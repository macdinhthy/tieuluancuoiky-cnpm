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9" r:id="rId3"/>
    <p:sldId id="295" r:id="rId4"/>
    <p:sldId id="265" r:id="rId5"/>
    <p:sldId id="296" r:id="rId6"/>
    <p:sldId id="297" r:id="rId7"/>
    <p:sldId id="298" r:id="rId8"/>
    <p:sldId id="261" r:id="rId9"/>
    <p:sldId id="300" r:id="rId10"/>
    <p:sldId id="301" r:id="rId11"/>
    <p:sldId id="302" r:id="rId12"/>
    <p:sldId id="303" r:id="rId13"/>
    <p:sldId id="317" r:id="rId14"/>
    <p:sldId id="267" r:id="rId15"/>
    <p:sldId id="304" r:id="rId16"/>
    <p:sldId id="305" r:id="rId17"/>
    <p:sldId id="306" r:id="rId18"/>
    <p:sldId id="307" r:id="rId19"/>
    <p:sldId id="271" r:id="rId20"/>
    <p:sldId id="308" r:id="rId21"/>
    <p:sldId id="309" r:id="rId22"/>
    <p:sldId id="260" r:id="rId23"/>
    <p:sldId id="310" r:id="rId24"/>
    <p:sldId id="311" r:id="rId25"/>
    <p:sldId id="312" r:id="rId26"/>
    <p:sldId id="313" r:id="rId27"/>
    <p:sldId id="314" r:id="rId28"/>
    <p:sldId id="315" r:id="rId29"/>
    <p:sldId id="316" r:id="rId30"/>
  </p:sldIdLst>
  <p:sldSz cx="9144000" cy="5143500" type="screen16x9"/>
  <p:notesSz cx="6858000" cy="9144000"/>
  <p:embeddedFontLst>
    <p:embeddedFont>
      <p:font typeface="Inria Serif" panose="020B0604020202020204" charset="0"/>
      <p:regular r:id="rId32"/>
      <p:bold r:id="rId33"/>
      <p:italic r:id="rId34"/>
      <p:boldItalic r:id="rId35"/>
    </p:embeddedFont>
    <p:embeddedFont>
      <p:font typeface="Inria Serif Light" panose="020B0604020202020204" charset="0"/>
      <p:regular r:id="rId36"/>
      <p:bold r:id="rId37"/>
      <p:italic r:id="rId38"/>
      <p:boldItalic r:id="rId39"/>
    </p:embeddedFont>
    <p:embeddedFont>
      <p:font typeface="Playfair Display Regular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46DF28-2150-43F1-838E-3EFDFE06A0C1}">
  <a:tblStyle styleId="{2146DF28-2150-43F1-838E-3EFDFE06A0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BB1EE3E-A275-4247-A9CC-9BE1B03F3CE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048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0908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1344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6941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7262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5319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5791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26017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5291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80480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35787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55953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74947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65271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43661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73590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85498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83197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48783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22539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26933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526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2571750"/>
            <a:ext cx="9144000" cy="2571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02900" y="1361354"/>
            <a:ext cx="37245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227900" y="-1675"/>
            <a:ext cx="916200" cy="91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solidFill>
          <a:schemeClr val="accen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2307300" y="921000"/>
            <a:ext cx="6836700" cy="4222500"/>
          </a:xfrm>
          <a:prstGeom prst="rect">
            <a:avLst/>
          </a:prstGeom>
          <a:solidFill>
            <a:srgbClr val="3B1106">
              <a:alpha val="61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2763000" y="1376700"/>
            <a:ext cx="5925300" cy="33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31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ria Serif"/>
              <a:buChar char="▫"/>
              <a:defRPr sz="3200" i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marL="914400" lvl="1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ria Serif"/>
              <a:buChar char="▪"/>
              <a:defRPr sz="3200" i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2pPr>
            <a:lvl3pPr marL="1371600" lvl="2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ria Serif"/>
              <a:buChar char="▫"/>
              <a:defRPr sz="3200" i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3pPr>
            <a:lvl4pPr marL="1828800" lvl="3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ria Serif"/>
              <a:buChar char="●"/>
              <a:defRPr sz="3200" i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4pPr>
            <a:lvl5pPr marL="2286000" lvl="4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ria Serif"/>
              <a:buChar char="○"/>
              <a:defRPr sz="3200" i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5pPr>
            <a:lvl6pPr marL="2743200" lvl="5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ria Serif"/>
              <a:buChar char="■"/>
              <a:defRPr sz="3200" i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6pPr>
            <a:lvl7pPr marL="3200400" lvl="6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ria Serif"/>
              <a:buChar char="●"/>
              <a:defRPr sz="3200" i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7pPr>
            <a:lvl8pPr marL="3657600" lvl="7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ria Serif"/>
              <a:buChar char="○"/>
              <a:defRPr sz="3200" i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8pPr>
            <a:lvl9pPr marL="4114800" lvl="8" indent="-431800" rtl="0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3200"/>
              <a:buFont typeface="Inria Serif"/>
              <a:buChar char="■"/>
              <a:defRPr sz="3200" i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213450" y="600536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b="1">
                <a:solidFill>
                  <a:schemeClr val="lt2"/>
                </a:solidFill>
                <a:latin typeface="Inria Serif"/>
                <a:ea typeface="Inria Serif"/>
                <a:cs typeface="Inria Serif"/>
                <a:sym typeface="Inria Serif"/>
              </a:rPr>
              <a:t>“</a:t>
            </a:r>
            <a:endParaRPr sz="9600" b="1">
              <a:solidFill>
                <a:schemeClr val="lt2"/>
              </a:solidFill>
              <a:latin typeface="Inria Serif"/>
              <a:ea typeface="Inria Serif"/>
              <a:cs typeface="Inria Serif"/>
              <a:sym typeface="Inria Serif"/>
            </a:endParaRPr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2307300" y="921000"/>
            <a:ext cx="6836700" cy="422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455700" y="823775"/>
            <a:ext cx="1623900" cy="38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2763000" y="1376700"/>
            <a:ext cx="5925300" cy="33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/>
            </a:lvl1pPr>
            <a:lvl2pPr marL="914400" lvl="1" indent="-3556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/>
            </a:lvl2pPr>
            <a:lvl3pPr marL="1371600" lvl="2" indent="-355600" rtl="0">
              <a:spcBef>
                <a:spcPts val="600"/>
              </a:spcBef>
              <a:spcAft>
                <a:spcPts val="0"/>
              </a:spcAft>
              <a:buSzPts val="2000"/>
              <a:buChar char="▫"/>
              <a:defRPr/>
            </a:lvl3pPr>
            <a:lvl4pPr marL="1828800" lvl="3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60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600"/>
              </a:spcBef>
              <a:spcAft>
                <a:spcPts val="60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_AND_BODY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55700" y="1586238"/>
            <a:ext cx="3623100" cy="33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55700" y="2139163"/>
            <a:ext cx="3623100" cy="141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/>
            </a:lvl1pPr>
            <a:lvl2pPr marL="914400" lvl="1" indent="-3556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/>
            </a:lvl2pPr>
            <a:lvl3pPr marL="1371600" lvl="2" indent="-355600" rtl="0">
              <a:spcBef>
                <a:spcPts val="600"/>
              </a:spcBef>
              <a:spcAft>
                <a:spcPts val="0"/>
              </a:spcAft>
              <a:buSzPts val="2000"/>
              <a:buChar char="▫"/>
              <a:defRPr/>
            </a:lvl3pPr>
            <a:lvl4pPr marL="1828800" lvl="3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60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600"/>
              </a:spcBef>
              <a:spcAft>
                <a:spcPts val="60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/>
          <p:nvPr/>
        </p:nvSpPr>
        <p:spPr>
          <a:xfrm>
            <a:off x="2307300" y="921000"/>
            <a:ext cx="6836700" cy="422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455700" y="823775"/>
            <a:ext cx="1623900" cy="38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884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algn="ctr" rtl="0">
              <a:buNone/>
              <a:defRPr sz="1300" b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2pPr>
            <a:lvl3pPr lvl="2" algn="ctr" rtl="0">
              <a:buNone/>
              <a:defRPr sz="1300" b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3pPr>
            <a:lvl4pPr lvl="3" algn="ctr" rtl="0">
              <a:buNone/>
              <a:defRPr sz="1300" b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4pPr>
            <a:lvl5pPr lvl="4" algn="ctr" rtl="0">
              <a:buNone/>
              <a:defRPr sz="1300" b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5pPr>
            <a:lvl6pPr lvl="5" algn="ctr" rtl="0">
              <a:buNone/>
              <a:defRPr sz="1300" b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6pPr>
            <a:lvl7pPr lvl="6" algn="ctr" rtl="0">
              <a:buNone/>
              <a:defRPr sz="1300" b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7pPr>
            <a:lvl8pPr lvl="7" algn="ctr" rtl="0">
              <a:buNone/>
              <a:defRPr sz="1300" b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8pPr>
            <a:lvl9pPr lvl="8" algn="ctr" rtl="0">
              <a:buNone/>
              <a:defRPr sz="1300" b="1">
                <a:solidFill>
                  <a:schemeClr val="lt1"/>
                </a:solidFill>
                <a:latin typeface="Inria Serif"/>
                <a:ea typeface="Inria Serif"/>
                <a:cs typeface="Inria Serif"/>
                <a:sym typeface="Inria Serif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55700" y="823775"/>
            <a:ext cx="1623900" cy="3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Playfair Display Regular"/>
              <a:buNone/>
              <a:defRPr sz="2200">
                <a:solidFill>
                  <a:schemeClr val="accent1"/>
                </a:solidFill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Playfair Display Regular"/>
              <a:buNone/>
              <a:defRPr sz="2200">
                <a:solidFill>
                  <a:schemeClr val="accent1"/>
                </a:solidFill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Playfair Display Regular"/>
              <a:buNone/>
              <a:defRPr sz="2200">
                <a:solidFill>
                  <a:schemeClr val="accent1"/>
                </a:solidFill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Playfair Display Regular"/>
              <a:buNone/>
              <a:defRPr sz="2200">
                <a:solidFill>
                  <a:schemeClr val="accent1"/>
                </a:solidFill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Playfair Display Regular"/>
              <a:buNone/>
              <a:defRPr sz="2200">
                <a:solidFill>
                  <a:schemeClr val="accent1"/>
                </a:solidFill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Playfair Display Regular"/>
              <a:buNone/>
              <a:defRPr sz="2200">
                <a:solidFill>
                  <a:schemeClr val="accent1"/>
                </a:solidFill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Playfair Display Regular"/>
              <a:buNone/>
              <a:defRPr sz="2200">
                <a:solidFill>
                  <a:schemeClr val="accent1"/>
                </a:solidFill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Playfair Display Regular"/>
              <a:buNone/>
              <a:defRPr sz="2200">
                <a:solidFill>
                  <a:schemeClr val="accent1"/>
                </a:solidFill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Playfair Display Regular"/>
              <a:buNone/>
              <a:defRPr sz="2200">
                <a:solidFill>
                  <a:schemeClr val="accent1"/>
                </a:solidFill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2763000" y="1376700"/>
            <a:ext cx="5925300" cy="33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Inria Serif Light"/>
              <a:buChar char="▫"/>
              <a:defRPr sz="2000">
                <a:solidFill>
                  <a:schemeClr val="dk1"/>
                </a:solidFill>
                <a:latin typeface="Inria Serif Light"/>
                <a:ea typeface="Inria Serif Light"/>
                <a:cs typeface="Inria Serif Light"/>
                <a:sym typeface="Inria Serif Light"/>
              </a:defRPr>
            </a:lvl1pPr>
            <a:lvl2pPr marL="914400" lvl="1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Inria Serif Light"/>
              <a:buChar char="▪"/>
              <a:defRPr sz="2000">
                <a:solidFill>
                  <a:schemeClr val="dk1"/>
                </a:solidFill>
                <a:latin typeface="Inria Serif Light"/>
                <a:ea typeface="Inria Serif Light"/>
                <a:cs typeface="Inria Serif Light"/>
                <a:sym typeface="Inria Serif Light"/>
              </a:defRPr>
            </a:lvl2pPr>
            <a:lvl3pPr marL="1371600" lvl="2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Inria Serif Light"/>
              <a:buChar char="▫"/>
              <a:defRPr sz="2000">
                <a:solidFill>
                  <a:schemeClr val="dk1"/>
                </a:solidFill>
                <a:latin typeface="Inria Serif Light"/>
                <a:ea typeface="Inria Serif Light"/>
                <a:cs typeface="Inria Serif Light"/>
                <a:sym typeface="Inria Serif Light"/>
              </a:defRPr>
            </a:lvl3pPr>
            <a:lvl4pPr marL="1828800" lvl="3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ria Serif Light"/>
              <a:buChar char="●"/>
              <a:defRPr sz="2000">
                <a:solidFill>
                  <a:schemeClr val="dk1"/>
                </a:solidFill>
                <a:latin typeface="Inria Serif Light"/>
                <a:ea typeface="Inria Serif Light"/>
                <a:cs typeface="Inria Serif Light"/>
                <a:sym typeface="Inria Serif Light"/>
              </a:defRPr>
            </a:lvl4pPr>
            <a:lvl5pPr marL="2286000" lvl="4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ria Serif Light"/>
              <a:buChar char="○"/>
              <a:defRPr sz="2000">
                <a:solidFill>
                  <a:schemeClr val="dk1"/>
                </a:solidFill>
                <a:latin typeface="Inria Serif Light"/>
                <a:ea typeface="Inria Serif Light"/>
                <a:cs typeface="Inria Serif Light"/>
                <a:sym typeface="Inria Serif Light"/>
              </a:defRPr>
            </a:lvl5pPr>
            <a:lvl6pPr marL="2743200" lvl="5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ria Serif Light"/>
              <a:buChar char="■"/>
              <a:defRPr sz="2000">
                <a:solidFill>
                  <a:schemeClr val="dk1"/>
                </a:solidFill>
                <a:latin typeface="Inria Serif Light"/>
                <a:ea typeface="Inria Serif Light"/>
                <a:cs typeface="Inria Serif Light"/>
                <a:sym typeface="Inria Serif Light"/>
              </a:defRPr>
            </a:lvl6pPr>
            <a:lvl7pPr marL="3200400" lvl="6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ria Serif Light"/>
              <a:buChar char="●"/>
              <a:defRPr sz="2000">
                <a:solidFill>
                  <a:schemeClr val="dk1"/>
                </a:solidFill>
                <a:latin typeface="Inria Serif Light"/>
                <a:ea typeface="Inria Serif Light"/>
                <a:cs typeface="Inria Serif Light"/>
                <a:sym typeface="Inria Serif Light"/>
              </a:defRPr>
            </a:lvl7pPr>
            <a:lvl8pPr marL="3657600" lvl="7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ria Serif Light"/>
              <a:buChar char="○"/>
              <a:defRPr sz="2000">
                <a:solidFill>
                  <a:schemeClr val="dk1"/>
                </a:solidFill>
                <a:latin typeface="Inria Serif Light"/>
                <a:ea typeface="Inria Serif Light"/>
                <a:cs typeface="Inria Serif Light"/>
                <a:sym typeface="Inria Serif Light"/>
              </a:defRPr>
            </a:lvl8pPr>
            <a:lvl9pPr marL="4114800" lvl="8" indent="-355600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000"/>
              <a:buFont typeface="Inria Serif Light"/>
              <a:buChar char="■"/>
              <a:defRPr sz="2000">
                <a:solidFill>
                  <a:schemeClr val="dk1"/>
                </a:solidFill>
                <a:latin typeface="Inria Serif Light"/>
                <a:ea typeface="Inria Serif Light"/>
                <a:cs typeface="Inria Serif Light"/>
                <a:sym typeface="Inria Serif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5" r:id="rId5"/>
    <p:sldLayoutId id="2147483657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916100" y="1230726"/>
            <a:ext cx="3133386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QUẢN LÝ GARA Ô TÔ </a:t>
            </a:r>
            <a:endParaRPr sz="4000" dirty="0"/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BB58BD24-8F31-77E1-998E-6376485657B9}"/>
              </a:ext>
            </a:extLst>
          </p:cNvPr>
          <p:cNvSpPr txBox="1"/>
          <p:nvPr/>
        </p:nvSpPr>
        <p:spPr>
          <a:xfrm>
            <a:off x="196793" y="334412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000" b="1" dirty="0" err="1">
                <a:effectLst/>
                <a:latin typeface="+mj-lt"/>
                <a:ea typeface="Times New Roman" panose="02020603050405020304" pitchFamily="18" charset="0"/>
              </a:rPr>
              <a:t>Nhóm</a:t>
            </a:r>
            <a:r>
              <a:rPr lang="vi-VN" sz="2000" b="1" dirty="0">
                <a:effectLst/>
                <a:latin typeface="+mj-lt"/>
                <a:ea typeface="Times New Roman" panose="02020603050405020304" pitchFamily="18" charset="0"/>
              </a:rPr>
              <a:t>: </a:t>
            </a:r>
            <a:r>
              <a:rPr lang="vi-VN" sz="2000" b="1" i="1" dirty="0">
                <a:effectLst/>
                <a:latin typeface="+mj-lt"/>
                <a:ea typeface="Times New Roman" panose="02020603050405020304" pitchFamily="18" charset="0"/>
              </a:rPr>
              <a:t>IT’S MY FAULT</a:t>
            </a:r>
            <a:r>
              <a:rPr lang="en-US" altLang="zh-CN" sz="2000" b="1" dirty="0">
                <a:solidFill>
                  <a:srgbClr val="4A2319"/>
                </a:solidFill>
                <a:latin typeface="+mj-lt"/>
              </a:rPr>
              <a:t> </a:t>
            </a:r>
          </a:p>
        </p:txBody>
      </p:sp>
      <p:pic>
        <p:nvPicPr>
          <p:cNvPr id="13" name="Hình ảnh 12" descr="Ảnh có chứa trần, trong nhà, ô tô, sàn&#10;&#10;Mô tả được tạo tự động">
            <a:extLst>
              <a:ext uri="{FF2B5EF4-FFF2-40B4-BE49-F238E27FC236}">
                <a16:creationId xmlns:a16="http://schemas.microsoft.com/office/drawing/2014/main" id="{88F9EF40-1D66-B66A-846B-33495C91D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149" y="1041207"/>
            <a:ext cx="4387906" cy="30610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7553A119-15AE-A910-6348-5F82F6DE292C}"/>
              </a:ext>
            </a:extLst>
          </p:cNvPr>
          <p:cNvSpPr/>
          <p:nvPr/>
        </p:nvSpPr>
        <p:spPr>
          <a:xfrm>
            <a:off x="1" y="1367883"/>
            <a:ext cx="9143999" cy="225254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0799CDE8-C483-B7AC-6B76-C63E8AA08356}"/>
              </a:ext>
            </a:extLst>
          </p:cNvPr>
          <p:cNvSpPr txBox="1"/>
          <p:nvPr/>
        </p:nvSpPr>
        <p:spPr>
          <a:xfrm>
            <a:off x="2914261" y="547675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</a:pPr>
            <a:r>
              <a:rPr lang="vi-VN" sz="20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CHƯƠNG 1: TỔNG QUAN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17C3FB29-C7A5-AFFC-1EAA-FC55CB5CC506}"/>
              </a:ext>
            </a:extLst>
          </p:cNvPr>
          <p:cNvSpPr txBox="1"/>
          <p:nvPr/>
        </p:nvSpPr>
        <p:spPr>
          <a:xfrm>
            <a:off x="386344" y="1639967"/>
            <a:ext cx="8099288" cy="15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vi-VN" sz="1400" b="1" dirty="0" err="1">
                <a:effectLst/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Hiện</a:t>
            </a:r>
            <a:r>
              <a:rPr lang="vi-VN" sz="1400" b="1" dirty="0">
                <a:effectLst/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1400" b="1" dirty="0" err="1">
                <a:effectLst/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trạng</a:t>
            </a:r>
            <a:endParaRPr lang="vi-VN" b="1" dirty="0">
              <a:latin typeface="Times New Roman" panose="02020603050405020304" pitchFamily="18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 marL="457200"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Trong xu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hướng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công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nghệ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4.0,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rất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nhiều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thành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tựu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đã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đang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sử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dụng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trong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quản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lý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Trong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phạm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vi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đề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tài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trên,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dựa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vào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hiểu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biết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kỹ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năng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về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công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nghệ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thành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viên,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nhóm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chúng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tôi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đã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quyết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đối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tượng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để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nghiên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cứu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loại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quản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lý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gara</a:t>
            </a:r>
            <a:r>
              <a:rPr lang="vi-V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ô tô.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05ACDF41-581A-FAFC-412F-46D2E927AF24}"/>
              </a:ext>
            </a:extLst>
          </p:cNvPr>
          <p:cNvSpPr txBox="1"/>
          <p:nvPr/>
        </p:nvSpPr>
        <p:spPr>
          <a:xfrm>
            <a:off x="1375317" y="864303"/>
            <a:ext cx="5568175" cy="3055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2" algn="ctr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300"/>
            </a:pPr>
            <a:r>
              <a:rPr lang="vi-VN" sz="2800" b="1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Mục</a:t>
            </a:r>
            <a:r>
              <a:rPr lang="vi-VN" sz="2800" b="1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800" b="1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đích</a:t>
            </a:r>
            <a:endParaRPr lang="vi-VN" sz="2800" b="1" strike="noStrike" kern="0" spc="0" dirty="0">
              <a:ln>
                <a:noFill/>
              </a:ln>
              <a:effectLst>
                <a:glow>
                  <a:srgbClr val="000000"/>
                </a:glow>
                <a:outerShdw sx="0" sy="0">
                  <a:srgbClr val="000000"/>
                </a:outerShdw>
                <a:reflection stA="0" endPos="0" fadeDir="0" sx="0" sy="0"/>
              </a:effectLst>
              <a:latin typeface="+mn-lt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 marL="1600200" lvl="3" indent="-228600">
              <a:lnSpc>
                <a:spcPct val="150000"/>
              </a:lnSpc>
              <a:spcBef>
                <a:spcPts val="1145"/>
              </a:spcBef>
              <a:spcAft>
                <a:spcPts val="0"/>
              </a:spcAft>
              <a:buSzPts val="1300"/>
              <a:buFont typeface="DejaVu Sans"/>
              <a:buChar char="▪"/>
            </a:pPr>
            <a:r>
              <a:rPr lang="vi-VN" sz="1500" dirty="0">
                <a:effectLst/>
                <a:latin typeface="+mn-lt"/>
                <a:ea typeface="DejaVu Sans"/>
                <a:cs typeface="DejaVu Sans"/>
              </a:rPr>
              <a:t>Cung </a:t>
            </a:r>
            <a:r>
              <a:rPr lang="vi-VN" sz="1500" dirty="0" err="1">
                <a:effectLst/>
                <a:latin typeface="+mn-lt"/>
                <a:ea typeface="DejaVu Sans"/>
                <a:cs typeface="DejaVu Sans"/>
              </a:rPr>
              <a:t>cấp</a:t>
            </a:r>
            <a:r>
              <a:rPr lang="vi-VN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vi-VN" sz="1500" dirty="0" err="1">
                <a:effectLst/>
                <a:latin typeface="+mn-lt"/>
                <a:ea typeface="DejaVu Sans"/>
                <a:cs typeface="DejaVu Sans"/>
              </a:rPr>
              <a:t>đầy</a:t>
            </a:r>
            <a:r>
              <a:rPr lang="vi-VN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vi-VN" sz="1500" dirty="0" err="1">
                <a:effectLst/>
                <a:latin typeface="+mn-lt"/>
                <a:ea typeface="DejaVu Sans"/>
                <a:cs typeface="DejaVu Sans"/>
              </a:rPr>
              <a:t>đủ</a:t>
            </a:r>
            <a:r>
              <a:rPr lang="vi-VN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vi-VN" sz="1500" dirty="0" err="1">
                <a:effectLst/>
                <a:latin typeface="+mn-lt"/>
                <a:ea typeface="DejaVu Sans"/>
                <a:cs typeface="DejaVu Sans"/>
              </a:rPr>
              <a:t>tính</a:t>
            </a:r>
            <a:r>
              <a:rPr lang="vi-VN" sz="1500" dirty="0">
                <a:effectLst/>
                <a:latin typeface="+mn-lt"/>
                <a:ea typeface="DejaVu Sans"/>
                <a:cs typeface="DejaVu Sans"/>
              </a:rPr>
              <a:t> năng </a:t>
            </a:r>
            <a:r>
              <a:rPr lang="vi-VN" sz="1500" dirty="0" err="1">
                <a:effectLst/>
                <a:latin typeface="+mn-lt"/>
                <a:ea typeface="DejaVu Sans"/>
                <a:cs typeface="DejaVu Sans"/>
              </a:rPr>
              <a:t>cần</a:t>
            </a:r>
            <a:r>
              <a:rPr lang="vi-VN" sz="1500" spc="-55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vi-VN" sz="1500" dirty="0" err="1">
                <a:effectLst/>
                <a:latin typeface="+mn-lt"/>
                <a:ea typeface="DejaVu Sans"/>
                <a:cs typeface="DejaVu Sans"/>
              </a:rPr>
              <a:t>thiết</a:t>
            </a:r>
            <a:r>
              <a:rPr lang="vi-VN" sz="1500" dirty="0">
                <a:effectLst/>
                <a:latin typeface="+mn-lt"/>
                <a:ea typeface="DejaVu Sans"/>
                <a:cs typeface="DejaVu Sans"/>
              </a:rPr>
              <a:t>.</a:t>
            </a:r>
          </a:p>
          <a:p>
            <a:pPr marL="1600200" lvl="3" indent="-228600">
              <a:lnSpc>
                <a:spcPct val="150000"/>
              </a:lnSpc>
              <a:spcBef>
                <a:spcPts val="760"/>
              </a:spcBef>
              <a:spcAft>
                <a:spcPts val="0"/>
              </a:spcAft>
              <a:buSzPts val="1300"/>
              <a:buFont typeface="DejaVu Sans"/>
              <a:buChar char="▪"/>
            </a:pPr>
            <a:r>
              <a:rPr lang="vi-VN" sz="1500" dirty="0" err="1">
                <a:effectLst/>
                <a:latin typeface="+mn-lt"/>
                <a:ea typeface="DejaVu Sans"/>
                <a:cs typeface="DejaVu Sans"/>
              </a:rPr>
              <a:t>Dễ</a:t>
            </a:r>
            <a:r>
              <a:rPr lang="vi-VN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vi-VN" sz="1500" dirty="0" err="1">
                <a:effectLst/>
                <a:latin typeface="+mn-lt"/>
                <a:ea typeface="DejaVu Sans"/>
                <a:cs typeface="DejaVu Sans"/>
              </a:rPr>
              <a:t>sử</a:t>
            </a:r>
            <a:r>
              <a:rPr lang="vi-VN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vi-VN" sz="1500" dirty="0" err="1">
                <a:effectLst/>
                <a:latin typeface="+mn-lt"/>
                <a:ea typeface="DejaVu Sans"/>
                <a:cs typeface="DejaVu Sans"/>
              </a:rPr>
              <a:t>dụng</a:t>
            </a:r>
            <a:r>
              <a:rPr lang="vi-VN" sz="1500" dirty="0">
                <a:effectLst/>
                <a:latin typeface="+mn-lt"/>
                <a:ea typeface="DejaVu Sans"/>
                <a:cs typeface="DejaVu Sans"/>
              </a:rPr>
              <a:t>, nhanh </a:t>
            </a:r>
            <a:r>
              <a:rPr lang="vi-VN" sz="1500" dirty="0" err="1">
                <a:effectLst/>
                <a:latin typeface="+mn-lt"/>
                <a:ea typeface="DejaVu Sans"/>
                <a:cs typeface="DejaVu Sans"/>
              </a:rPr>
              <a:t>gọn</a:t>
            </a:r>
            <a:r>
              <a:rPr lang="vi-VN" sz="1500" dirty="0">
                <a:effectLst/>
                <a:latin typeface="+mn-lt"/>
                <a:ea typeface="DejaVu Sans"/>
                <a:cs typeface="DejaVu Sans"/>
              </a:rPr>
              <a:t>, </a:t>
            </a:r>
            <a:r>
              <a:rPr lang="vi-VN" sz="1500" dirty="0" err="1">
                <a:effectLst/>
                <a:latin typeface="+mn-lt"/>
                <a:ea typeface="DejaVu Sans"/>
                <a:cs typeface="DejaVu Sans"/>
              </a:rPr>
              <a:t>tiện</a:t>
            </a:r>
            <a:r>
              <a:rPr lang="vi-VN" sz="1500" spc="-2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vi-VN" sz="1500" dirty="0" err="1">
                <a:effectLst/>
                <a:latin typeface="+mn-lt"/>
                <a:ea typeface="DejaVu Sans"/>
                <a:cs typeface="DejaVu Sans"/>
              </a:rPr>
              <a:t>lợi</a:t>
            </a:r>
            <a:r>
              <a:rPr lang="vi-VN" sz="1500" dirty="0">
                <a:effectLst/>
                <a:latin typeface="+mn-lt"/>
                <a:ea typeface="DejaVu Sans"/>
                <a:cs typeface="DejaVu Sans"/>
              </a:rPr>
              <a:t>.</a:t>
            </a:r>
          </a:p>
          <a:p>
            <a:pPr marL="1600200" lvl="3" indent="-228600">
              <a:lnSpc>
                <a:spcPct val="150000"/>
              </a:lnSpc>
              <a:spcBef>
                <a:spcPts val="770"/>
              </a:spcBef>
              <a:spcAft>
                <a:spcPts val="0"/>
              </a:spcAft>
              <a:buSzPts val="1300"/>
              <a:buFont typeface="DejaVu Sans"/>
              <a:buChar char="▪"/>
            </a:pP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Giao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diện</a:t>
            </a: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thân</a:t>
            </a:r>
            <a:r>
              <a:rPr lang="en-US" sz="1500" spc="-25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thiện</a:t>
            </a: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.</a:t>
            </a:r>
            <a:endParaRPr lang="vi-VN" sz="1500" dirty="0">
              <a:effectLst/>
              <a:latin typeface="+mn-lt"/>
              <a:ea typeface="DejaVu Sans"/>
              <a:cs typeface="DejaVu Sans"/>
            </a:endParaRPr>
          </a:p>
          <a:p>
            <a:pPr marL="1600200" lvl="3" indent="-228600">
              <a:lnSpc>
                <a:spcPct val="150000"/>
              </a:lnSpc>
              <a:spcBef>
                <a:spcPts val="760"/>
              </a:spcBef>
              <a:spcAft>
                <a:spcPts val="0"/>
              </a:spcAft>
              <a:buSzPts val="1300"/>
              <a:buFont typeface="DejaVu Sans"/>
              <a:buChar char="▪"/>
            </a:pP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Nâng</a:t>
            </a: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cao</a:t>
            </a: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tính</a:t>
            </a: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chính</a:t>
            </a: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xác</a:t>
            </a: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,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bám</a:t>
            </a: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sát</a:t>
            </a: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thực</a:t>
            </a:r>
            <a:r>
              <a:rPr lang="en-US" sz="1500" spc="-35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tiễn</a:t>
            </a: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.</a:t>
            </a:r>
            <a:endParaRPr lang="vi-VN" sz="1500" dirty="0">
              <a:effectLst/>
              <a:latin typeface="+mn-lt"/>
              <a:ea typeface="DejaVu Sans"/>
              <a:cs typeface="DejaVu Sans"/>
            </a:endParaRPr>
          </a:p>
          <a:p>
            <a:pPr marL="1600200" lvl="3" indent="-228600">
              <a:lnSpc>
                <a:spcPct val="150000"/>
              </a:lnSpc>
              <a:spcBef>
                <a:spcPts val="770"/>
              </a:spcBef>
              <a:spcAft>
                <a:spcPts val="0"/>
              </a:spcAft>
              <a:buSzPts val="1300"/>
              <a:buFont typeface="DejaVu Sans"/>
              <a:buChar char="▪"/>
            </a:pP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Đảm</a:t>
            </a: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bảo</a:t>
            </a: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tốt</a:t>
            </a: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về</a:t>
            </a: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mặt</a:t>
            </a: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bảo</a:t>
            </a: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mật</a:t>
            </a: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và</a:t>
            </a:r>
            <a:r>
              <a:rPr lang="en-US" sz="150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phân</a:t>
            </a:r>
            <a:r>
              <a:rPr lang="en-US" sz="1500" spc="-45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500" dirty="0" err="1">
                <a:effectLst/>
                <a:latin typeface="+mn-lt"/>
                <a:ea typeface="DejaVu Sans"/>
                <a:cs typeface="DejaVu Sans"/>
              </a:rPr>
              <a:t>quyền</a:t>
            </a:r>
            <a:r>
              <a:rPr lang="en-US" sz="1500" dirty="0">
                <a:latin typeface="+mn-lt"/>
                <a:ea typeface="DejaVu Sans"/>
                <a:cs typeface="DejaVu Sans"/>
              </a:rPr>
              <a:t>.</a:t>
            </a:r>
            <a:endParaRPr lang="vi-VN" sz="1500" dirty="0">
              <a:effectLst/>
              <a:latin typeface="+mn-lt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91696354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80349B7C-ACCF-80D7-61CB-90813889E3CB}"/>
              </a:ext>
            </a:extLst>
          </p:cNvPr>
          <p:cNvSpPr/>
          <p:nvPr/>
        </p:nvSpPr>
        <p:spPr>
          <a:xfrm>
            <a:off x="0" y="-170843"/>
            <a:ext cx="9144000" cy="899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6" name="Google Shape;176;p22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+mn-lt"/>
              </a:rPr>
              <a:t>4</a:t>
            </a:fld>
            <a:endParaRPr>
              <a:latin typeface="+mn-lt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7DB997C5-6983-0A29-D4AA-49E27763D9CA}"/>
              </a:ext>
            </a:extLst>
          </p:cNvPr>
          <p:cNvSpPr txBox="1"/>
          <p:nvPr/>
        </p:nvSpPr>
        <p:spPr>
          <a:xfrm>
            <a:off x="3150578" y="0"/>
            <a:ext cx="4572000" cy="1112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sz="20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Yêu </a:t>
            </a:r>
            <a:r>
              <a:rPr lang="vi-VN" sz="2000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cầu</a:t>
            </a:r>
            <a:r>
              <a:rPr lang="vi-VN" sz="20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000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về</a:t>
            </a:r>
            <a:r>
              <a:rPr lang="vi-VN" sz="20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000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chức</a:t>
            </a:r>
            <a:r>
              <a:rPr lang="vi-VN" sz="20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năng</a:t>
            </a:r>
          </a:p>
          <a:p>
            <a:pPr marL="457200"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vi-VN" sz="2000" b="1" dirty="0">
              <a:solidFill>
                <a:schemeClr val="bg1"/>
              </a:solidFill>
              <a:effectLst/>
              <a:latin typeface="+mn-lt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25999FCC-EEF0-4C73-A6ED-36C738F8C300}"/>
              </a:ext>
            </a:extLst>
          </p:cNvPr>
          <p:cNvSpPr/>
          <p:nvPr/>
        </p:nvSpPr>
        <p:spPr>
          <a:xfrm>
            <a:off x="0" y="4361200"/>
            <a:ext cx="9144000" cy="7822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EF4E6B76-472D-1334-6656-DFC10928C6F5}"/>
              </a:ext>
            </a:extLst>
          </p:cNvPr>
          <p:cNvSpPr txBox="1"/>
          <p:nvPr/>
        </p:nvSpPr>
        <p:spPr>
          <a:xfrm>
            <a:off x="160584" y="832622"/>
            <a:ext cx="427760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79705" algn="just">
              <a:lnSpc>
                <a:spcPct val="150000"/>
              </a:lnSpc>
            </a:pP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	</a:t>
            </a:r>
            <a:r>
              <a:rPr lang="vi-VN" sz="1300" b="1" dirty="0" err="1">
                <a:effectLst/>
                <a:latin typeface="+mn-lt"/>
                <a:ea typeface="Times New Roman" panose="02020603050405020304" pitchFamily="18" charset="0"/>
              </a:rPr>
              <a:t>Tiếp</a:t>
            </a:r>
            <a:r>
              <a:rPr lang="vi-VN" sz="1300" b="1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b="1" dirty="0" err="1">
                <a:effectLst/>
                <a:latin typeface="+mn-lt"/>
                <a:ea typeface="Times New Roman" panose="02020603050405020304" pitchFamily="18" charset="0"/>
              </a:rPr>
              <a:t>nhận</a:t>
            </a:r>
            <a:r>
              <a:rPr lang="vi-VN" sz="1300" b="1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b="1" dirty="0" err="1">
                <a:effectLst/>
                <a:latin typeface="+mn-lt"/>
                <a:ea typeface="Times New Roman" panose="02020603050405020304" pitchFamily="18" charset="0"/>
              </a:rPr>
              <a:t>bảo</a:t>
            </a:r>
            <a:r>
              <a:rPr lang="vi-VN" sz="1300" b="1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b="1" dirty="0" err="1">
                <a:effectLst/>
                <a:latin typeface="+mn-lt"/>
                <a:ea typeface="Times New Roman" panose="02020603050405020304" pitchFamily="18" charset="0"/>
              </a:rPr>
              <a:t>trì</a:t>
            </a:r>
            <a:r>
              <a:rPr lang="vi-VN" sz="1300" b="1" dirty="0">
                <a:effectLst/>
                <a:latin typeface="+mn-lt"/>
                <a:ea typeface="Times New Roman" panose="02020603050405020304" pitchFamily="18" charset="0"/>
              </a:rPr>
              <a:t> xe</a:t>
            </a:r>
            <a:endParaRPr lang="vi-VN" sz="1400" b="1" dirty="0">
              <a:effectLst/>
              <a:latin typeface="+mn-lt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Nhập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liệu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thông tin xe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cần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tiếp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nhận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.</a:t>
            </a:r>
            <a:endParaRPr lang="vi-VN" sz="14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Hiệu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chỉnh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thông tin xe.</a:t>
            </a:r>
            <a:endParaRPr lang="vi-VN" sz="14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Hủy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tiếp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nhận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và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xóa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thông tin.</a:t>
            </a:r>
            <a:endParaRPr lang="vi-VN" sz="1400" dirty="0">
              <a:effectLst/>
              <a:latin typeface="+mn-lt"/>
              <a:ea typeface="Times New Roman" panose="02020603050405020304" pitchFamily="18" charset="0"/>
            </a:endParaRPr>
          </a:p>
          <a:p>
            <a:pPr indent="-179705" algn="just">
              <a:lnSpc>
                <a:spcPct val="150000"/>
              </a:lnSpc>
            </a:pP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	</a:t>
            </a:r>
            <a:r>
              <a:rPr lang="vi-VN" sz="1300" b="1" dirty="0" err="1">
                <a:effectLst/>
                <a:latin typeface="+mn-lt"/>
                <a:ea typeface="Times New Roman" panose="02020603050405020304" pitchFamily="18" charset="0"/>
              </a:rPr>
              <a:t>Lập</a:t>
            </a:r>
            <a:r>
              <a:rPr lang="vi-VN" sz="1300" b="1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b="1" dirty="0" err="1">
                <a:effectLst/>
                <a:latin typeface="+mn-lt"/>
                <a:ea typeface="Times New Roman" panose="02020603050405020304" pitchFamily="18" charset="0"/>
              </a:rPr>
              <a:t>phiếu</a:t>
            </a:r>
            <a:r>
              <a:rPr lang="vi-VN" sz="1300" b="1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b="1" dirty="0" err="1">
                <a:effectLst/>
                <a:latin typeface="+mn-lt"/>
                <a:ea typeface="Times New Roman" panose="02020603050405020304" pitchFamily="18" charset="0"/>
              </a:rPr>
              <a:t>sửa</a:t>
            </a:r>
            <a:r>
              <a:rPr lang="vi-VN" sz="1300" b="1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b="1" dirty="0" err="1">
                <a:effectLst/>
                <a:latin typeface="+mn-lt"/>
                <a:ea typeface="Times New Roman" panose="02020603050405020304" pitchFamily="18" charset="0"/>
              </a:rPr>
              <a:t>chữa</a:t>
            </a:r>
            <a:endParaRPr lang="vi-VN" b="1" dirty="0">
              <a:latin typeface="+mn-lt"/>
              <a:ea typeface="Times New Roman" panose="02020603050405020304" pitchFamily="18" charset="0"/>
            </a:endParaRPr>
          </a:p>
          <a:p>
            <a:pPr marL="106045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Nhập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liệu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thông tin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phiếu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sửa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chữa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: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Biển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số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xe,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ngày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sửa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chữa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nội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dung,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vật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tư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phụ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tùng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số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lượng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tiền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công.</a:t>
            </a:r>
            <a:endParaRPr lang="vi-VN" dirty="0">
              <a:latin typeface="+mn-lt"/>
              <a:ea typeface="Times New Roman" panose="02020603050405020304" pitchFamily="18" charset="0"/>
            </a:endParaRPr>
          </a:p>
          <a:p>
            <a:pPr marL="106045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Hiệu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chính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thông tin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phiếu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sửa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chữa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.</a:t>
            </a:r>
            <a:endParaRPr lang="vi-VN" dirty="0">
              <a:latin typeface="+mn-lt"/>
              <a:ea typeface="Times New Roman" panose="02020603050405020304" pitchFamily="18" charset="0"/>
            </a:endParaRPr>
          </a:p>
          <a:p>
            <a:pPr marL="106045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Hủy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phiếu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sửa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chữa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.</a:t>
            </a:r>
            <a:endParaRPr lang="vi-VN" dirty="0">
              <a:latin typeface="+mn-lt"/>
              <a:ea typeface="Times New Roman" panose="02020603050405020304" pitchFamily="18" charset="0"/>
            </a:endParaRPr>
          </a:p>
          <a:p>
            <a:pPr marL="106045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Xuất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phiếu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sửa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chữa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ra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máy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in.</a:t>
            </a:r>
            <a:endParaRPr lang="vi-VN" sz="1400" dirty="0">
              <a:effectLst/>
              <a:latin typeface="+mn-lt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	</a:t>
            </a:r>
            <a:endParaRPr lang="vi-VN" sz="14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627D84B8-4031-B4BA-7C2E-4FD3154D6A00}"/>
              </a:ext>
            </a:extLst>
          </p:cNvPr>
          <p:cNvSpPr txBox="1"/>
          <p:nvPr/>
        </p:nvSpPr>
        <p:spPr>
          <a:xfrm>
            <a:off x="4499649" y="866311"/>
            <a:ext cx="4582886" cy="3357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79705" algn="just">
              <a:lnSpc>
                <a:spcPct val="150000"/>
              </a:lnSpc>
            </a:pP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	</a:t>
            </a:r>
            <a:r>
              <a:rPr lang="vi-VN" sz="1300" b="1" dirty="0">
                <a:effectLst/>
                <a:latin typeface="+mn-lt"/>
                <a:ea typeface="Times New Roman" panose="02020603050405020304" pitchFamily="18" charset="0"/>
              </a:rPr>
              <a:t>Tra </a:t>
            </a:r>
            <a:r>
              <a:rPr lang="vi-VN" sz="1300" b="1" dirty="0" err="1">
                <a:effectLst/>
                <a:latin typeface="+mn-lt"/>
                <a:ea typeface="Times New Roman" panose="02020603050405020304" pitchFamily="18" charset="0"/>
              </a:rPr>
              <a:t>cứu</a:t>
            </a:r>
            <a:r>
              <a:rPr lang="vi-VN" sz="1300" b="1" dirty="0">
                <a:effectLst/>
                <a:latin typeface="+mn-lt"/>
                <a:ea typeface="Times New Roman" panose="02020603050405020304" pitchFamily="18" charset="0"/>
              </a:rPr>
              <a:t> xe</a:t>
            </a:r>
            <a:endParaRPr lang="vi-VN" sz="1400" b="1" dirty="0">
              <a:effectLst/>
              <a:latin typeface="+mn-lt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Được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phép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tra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cứu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thông tin xe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gồm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biển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số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xe,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hiệu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xe,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chủ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xe,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tiền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nợ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.</a:t>
            </a:r>
            <a:endParaRPr lang="vi-VN" sz="14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In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ấn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danh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sách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thông tin xe.</a:t>
            </a:r>
            <a:endParaRPr lang="vi-VN" sz="1400" dirty="0">
              <a:effectLst/>
              <a:latin typeface="+mn-lt"/>
              <a:ea typeface="Times New Roman" panose="02020603050405020304" pitchFamily="18" charset="0"/>
            </a:endParaRPr>
          </a:p>
          <a:p>
            <a:pPr indent="-179705" algn="just">
              <a:lnSpc>
                <a:spcPct val="150000"/>
              </a:lnSpc>
            </a:pPr>
            <a:r>
              <a:rPr lang="vi-VN" sz="1300" b="1" dirty="0">
                <a:latin typeface="+mn-lt"/>
                <a:ea typeface="Times New Roman" panose="02020603050405020304" pitchFamily="18" charset="0"/>
              </a:rPr>
              <a:t>	</a:t>
            </a:r>
            <a:r>
              <a:rPr lang="vi-VN" sz="1300" b="1" dirty="0" err="1">
                <a:effectLst/>
                <a:latin typeface="+mn-lt"/>
                <a:ea typeface="Times New Roman" panose="02020603050405020304" pitchFamily="18" charset="0"/>
              </a:rPr>
              <a:t>Lập</a:t>
            </a:r>
            <a:r>
              <a:rPr lang="vi-VN" sz="1300" b="1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b="1" dirty="0" err="1">
                <a:effectLst/>
                <a:latin typeface="+mn-lt"/>
                <a:ea typeface="Times New Roman" panose="02020603050405020304" pitchFamily="18" charset="0"/>
              </a:rPr>
              <a:t>phiếu</a:t>
            </a:r>
            <a:r>
              <a:rPr lang="vi-VN" sz="1300" b="1" dirty="0">
                <a:effectLst/>
                <a:latin typeface="+mn-lt"/>
                <a:ea typeface="Times New Roman" panose="02020603050405020304" pitchFamily="18" charset="0"/>
              </a:rPr>
              <a:t> thu </a:t>
            </a:r>
            <a:r>
              <a:rPr lang="vi-VN" sz="1300" b="1" dirty="0" err="1">
                <a:effectLst/>
                <a:latin typeface="+mn-lt"/>
                <a:ea typeface="Times New Roman" panose="02020603050405020304" pitchFamily="18" charset="0"/>
              </a:rPr>
              <a:t>tiền</a:t>
            </a:r>
            <a:endParaRPr lang="vi-VN" sz="1400" b="1" dirty="0">
              <a:effectLst/>
              <a:latin typeface="+mn-lt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Truy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cập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tới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hóa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đơn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của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xe.</a:t>
            </a:r>
            <a:endParaRPr lang="vi-VN" sz="14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Những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thông tin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của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khách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hàng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sẽ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được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điền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một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cách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tự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động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(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có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thể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thay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đổi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)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và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nhập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các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thông tin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khác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gồm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số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tiền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thu.</a:t>
            </a:r>
            <a:endParaRPr lang="vi-VN" sz="14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In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ấn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phiếu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 thu </a:t>
            </a:r>
            <a:r>
              <a:rPr lang="vi-VN" sz="1300" dirty="0" err="1">
                <a:effectLst/>
                <a:latin typeface="+mn-lt"/>
                <a:ea typeface="Times New Roman" panose="02020603050405020304" pitchFamily="18" charset="0"/>
              </a:rPr>
              <a:t>tiền</a:t>
            </a: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.</a:t>
            </a:r>
            <a:endParaRPr lang="vi-VN" sz="1400" dirty="0">
              <a:effectLst/>
              <a:latin typeface="+mn-lt"/>
              <a:ea typeface="Times New Roman" panose="02020603050405020304" pitchFamily="18" charset="0"/>
            </a:endParaRPr>
          </a:p>
          <a:p>
            <a:pPr indent="-179705" algn="just">
              <a:lnSpc>
                <a:spcPct val="150000"/>
              </a:lnSpc>
            </a:pPr>
            <a:r>
              <a:rPr lang="vi-VN" sz="1300" dirty="0">
                <a:effectLst/>
                <a:latin typeface="+mn-lt"/>
                <a:ea typeface="Times New Roman" panose="02020603050405020304" pitchFamily="18" charset="0"/>
              </a:rPr>
              <a:t>▪	</a:t>
            </a:r>
            <a:endParaRPr lang="vi-VN" sz="1400" dirty="0">
              <a:effectLst/>
              <a:latin typeface="+mn-lt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80349B7C-ACCF-80D7-61CB-90813889E3CB}"/>
              </a:ext>
            </a:extLst>
          </p:cNvPr>
          <p:cNvSpPr/>
          <p:nvPr/>
        </p:nvSpPr>
        <p:spPr>
          <a:xfrm>
            <a:off x="0" y="-170843"/>
            <a:ext cx="9144000" cy="899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6" name="Google Shape;176;p22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+mj-lt"/>
              </a:rPr>
              <a:t>5</a:t>
            </a:fld>
            <a:endParaRPr>
              <a:latin typeface="+mj-lt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7DB997C5-6983-0A29-D4AA-49E27763D9CA}"/>
              </a:ext>
            </a:extLst>
          </p:cNvPr>
          <p:cNvSpPr txBox="1"/>
          <p:nvPr/>
        </p:nvSpPr>
        <p:spPr>
          <a:xfrm>
            <a:off x="2667359" y="0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sz="2000" b="1" dirty="0">
                <a:solidFill>
                  <a:schemeClr val="bg1"/>
                </a:solidFill>
                <a:effectLst/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YÊU CẦU VỀ CHỨC NĂNG</a:t>
            </a:r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25999FCC-EEF0-4C73-A6ED-36C738F8C300}"/>
              </a:ext>
            </a:extLst>
          </p:cNvPr>
          <p:cNvSpPr/>
          <p:nvPr/>
        </p:nvSpPr>
        <p:spPr>
          <a:xfrm>
            <a:off x="0" y="4394598"/>
            <a:ext cx="9144000" cy="7488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+mj-lt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BA60F5E3-EB19-A356-4869-C4A5E925A39D}"/>
              </a:ext>
            </a:extLst>
          </p:cNvPr>
          <p:cNvSpPr txBox="1"/>
          <p:nvPr/>
        </p:nvSpPr>
        <p:spPr>
          <a:xfrm>
            <a:off x="-10886" y="804976"/>
            <a:ext cx="4582886" cy="351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79705" algn="just">
              <a:lnSpc>
                <a:spcPct val="150000"/>
              </a:lnSpc>
            </a:pPr>
            <a:r>
              <a:rPr lang="vi-VN" sz="1500" b="1" dirty="0">
                <a:effectLst/>
                <a:latin typeface="+mj-lt"/>
                <a:ea typeface="Times New Roman" panose="02020603050405020304" pitchFamily="18" charset="0"/>
              </a:rPr>
              <a:t>	</a:t>
            </a:r>
            <a:r>
              <a:rPr lang="vi-VN" sz="1500" b="1" dirty="0" err="1">
                <a:effectLst/>
                <a:latin typeface="+mj-lt"/>
                <a:ea typeface="Times New Roman" panose="02020603050405020304" pitchFamily="18" charset="0"/>
              </a:rPr>
              <a:t>Lập</a:t>
            </a:r>
            <a:r>
              <a:rPr lang="vi-VN" sz="1500" b="1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b="1" dirty="0" err="1">
                <a:effectLst/>
                <a:latin typeface="+mj-lt"/>
                <a:ea typeface="Times New Roman" panose="02020603050405020304" pitchFamily="18" charset="0"/>
              </a:rPr>
              <a:t>báo</a:t>
            </a:r>
            <a:r>
              <a:rPr lang="vi-VN" sz="1500" b="1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b="1" dirty="0" err="1">
                <a:effectLst/>
                <a:latin typeface="+mj-lt"/>
                <a:ea typeface="Times New Roman" panose="02020603050405020304" pitchFamily="18" charset="0"/>
              </a:rPr>
              <a:t>cáo</a:t>
            </a:r>
            <a:r>
              <a:rPr lang="vi-VN" sz="1500" b="1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b="1" dirty="0" err="1">
                <a:effectLst/>
                <a:latin typeface="+mj-lt"/>
                <a:ea typeface="Times New Roman" panose="02020603050405020304" pitchFamily="18" charset="0"/>
              </a:rPr>
              <a:t>tháng</a:t>
            </a:r>
            <a:endParaRPr lang="vi-VN" sz="15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Truy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vấn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và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thống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kê doanh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số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,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báo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cáo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tồn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kho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của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các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vật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tư theo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tháng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, năm.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In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ấn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báo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cáo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.</a:t>
            </a:r>
          </a:p>
          <a:p>
            <a:pPr indent="-179705" algn="just">
              <a:lnSpc>
                <a:spcPct val="150000"/>
              </a:lnSpc>
            </a:pP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	</a:t>
            </a:r>
            <a:r>
              <a:rPr lang="vi-VN" sz="1500" b="1" dirty="0" err="1">
                <a:effectLst/>
                <a:latin typeface="+mj-lt"/>
                <a:ea typeface="Times New Roman" panose="02020603050405020304" pitchFamily="18" charset="0"/>
              </a:rPr>
              <a:t>Nhập</a:t>
            </a:r>
            <a:r>
              <a:rPr lang="vi-VN" sz="1500" b="1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b="1" dirty="0" err="1">
                <a:effectLst/>
                <a:latin typeface="+mj-lt"/>
                <a:ea typeface="Times New Roman" panose="02020603050405020304" pitchFamily="18" charset="0"/>
              </a:rPr>
              <a:t>liệu</a:t>
            </a:r>
            <a:r>
              <a:rPr lang="vi-VN" sz="1500" b="1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b="1" dirty="0" err="1">
                <a:effectLst/>
                <a:latin typeface="+mj-lt"/>
                <a:ea typeface="Times New Roman" panose="02020603050405020304" pitchFamily="18" charset="0"/>
              </a:rPr>
              <a:t>vật</a:t>
            </a:r>
            <a:r>
              <a:rPr lang="vi-VN" sz="1500" b="1" dirty="0">
                <a:effectLst/>
                <a:latin typeface="+mj-lt"/>
                <a:ea typeface="Times New Roman" panose="02020603050405020304" pitchFamily="18" charset="0"/>
              </a:rPr>
              <a:t> tư </a:t>
            </a:r>
            <a:r>
              <a:rPr lang="vi-VN" sz="1500" b="1" dirty="0" err="1">
                <a:effectLst/>
                <a:latin typeface="+mj-lt"/>
                <a:ea typeface="Times New Roman" panose="02020603050405020304" pitchFamily="18" charset="0"/>
              </a:rPr>
              <a:t>phụ</a:t>
            </a:r>
            <a:r>
              <a:rPr lang="vi-VN" sz="1500" b="1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b="1" dirty="0" err="1">
                <a:effectLst/>
                <a:latin typeface="+mj-lt"/>
                <a:ea typeface="Times New Roman" panose="02020603050405020304" pitchFamily="18" charset="0"/>
              </a:rPr>
              <a:t>tùng</a:t>
            </a:r>
            <a:endParaRPr lang="vi-VN" sz="15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Thêm,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xóa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,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sửa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vật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tư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phụ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tùng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mới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Xem danh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sách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vật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tư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phụ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tùng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.</a:t>
            </a:r>
          </a:p>
          <a:p>
            <a:pPr indent="-179705" algn="just">
              <a:lnSpc>
                <a:spcPct val="150000"/>
              </a:lnSpc>
            </a:pP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	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Nhập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liệu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hãng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xe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Thêm,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xóa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,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sửa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hãng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xe.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Xem danh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sách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các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500" dirty="0" err="1">
                <a:effectLst/>
                <a:latin typeface="+mj-lt"/>
                <a:ea typeface="Times New Roman" panose="02020603050405020304" pitchFamily="18" charset="0"/>
              </a:rPr>
              <a:t>hãng</a:t>
            </a:r>
            <a:r>
              <a:rPr lang="vi-VN" sz="1500" dirty="0">
                <a:effectLst/>
                <a:latin typeface="+mj-lt"/>
                <a:ea typeface="Times New Roman" panose="02020603050405020304" pitchFamily="18" charset="0"/>
              </a:rPr>
              <a:t> xe.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D0EF973-F1C2-43A5-C229-FA13A05ABAB7}"/>
              </a:ext>
            </a:extLst>
          </p:cNvPr>
          <p:cNvSpPr txBox="1"/>
          <p:nvPr/>
        </p:nvSpPr>
        <p:spPr>
          <a:xfrm>
            <a:off x="5355880" y="1124844"/>
            <a:ext cx="3119047" cy="185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79705" algn="just">
              <a:lnSpc>
                <a:spcPct val="150000"/>
              </a:lnSpc>
            </a:pP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	</a:t>
            </a:r>
            <a:r>
              <a:rPr lang="vi-VN" sz="1300" b="1" dirty="0">
                <a:effectLst/>
                <a:latin typeface="+mj-lt"/>
                <a:ea typeface="Times New Roman" panose="02020603050405020304" pitchFamily="18" charset="0"/>
              </a:rPr>
              <a:t>Thay </a:t>
            </a:r>
            <a:r>
              <a:rPr lang="vi-VN" sz="1300" b="1" dirty="0" err="1">
                <a:effectLst/>
                <a:latin typeface="+mj-lt"/>
                <a:ea typeface="Times New Roman" panose="02020603050405020304" pitchFamily="18" charset="0"/>
              </a:rPr>
              <a:t>đổi</a:t>
            </a:r>
            <a:r>
              <a:rPr lang="vi-VN" sz="1300" b="1" dirty="0">
                <a:effectLst/>
                <a:latin typeface="+mj-lt"/>
                <a:ea typeface="Times New Roman" panose="02020603050405020304" pitchFamily="18" charset="0"/>
              </a:rPr>
              <a:t> quy </a:t>
            </a:r>
            <a:r>
              <a:rPr lang="vi-VN" sz="1300" b="1" dirty="0" err="1">
                <a:effectLst/>
                <a:latin typeface="+mj-lt"/>
                <a:ea typeface="Times New Roman" panose="02020603050405020304" pitchFamily="18" charset="0"/>
              </a:rPr>
              <a:t>định</a:t>
            </a:r>
            <a:endParaRPr lang="vi-VN" b="1" dirty="0">
              <a:latin typeface="+mj-lt"/>
              <a:ea typeface="Times New Roman" panose="02020603050405020304" pitchFamily="18" charset="0"/>
            </a:endParaRPr>
          </a:p>
          <a:p>
            <a:pPr marL="106045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Được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 thay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đổi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một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số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ráng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buộc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về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số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lượng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,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phạm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 vi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giới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hạn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.</a:t>
            </a:r>
            <a:endParaRPr lang="vi-VN" sz="1400" dirty="0">
              <a:effectLst/>
              <a:latin typeface="+mj-lt"/>
              <a:ea typeface="Times New Roman" panose="02020603050405020304" pitchFamily="18" charset="0"/>
            </a:endParaRPr>
          </a:p>
          <a:p>
            <a:pPr indent="-179705" algn="just">
              <a:lnSpc>
                <a:spcPct val="150000"/>
              </a:lnSpc>
            </a:pP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	</a:t>
            </a:r>
            <a:r>
              <a:rPr lang="vi-VN" sz="1300" b="1" dirty="0">
                <a:effectLst/>
                <a:latin typeface="+mj-lt"/>
                <a:ea typeface="Times New Roman" panose="02020603050405020304" pitchFamily="18" charset="0"/>
              </a:rPr>
              <a:t>Phân </a:t>
            </a:r>
            <a:r>
              <a:rPr lang="vi-VN" sz="1300" b="1" dirty="0" err="1">
                <a:effectLst/>
                <a:latin typeface="+mj-lt"/>
                <a:ea typeface="Times New Roman" panose="02020603050405020304" pitchFamily="18" charset="0"/>
              </a:rPr>
              <a:t>quyền</a:t>
            </a:r>
            <a:r>
              <a:rPr lang="vi-VN" sz="1300" b="1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300" b="1" dirty="0" err="1">
                <a:effectLst/>
                <a:latin typeface="+mj-lt"/>
                <a:ea typeface="Times New Roman" panose="02020603050405020304" pitchFamily="18" charset="0"/>
              </a:rPr>
              <a:t>người</a:t>
            </a:r>
            <a:r>
              <a:rPr lang="vi-VN" sz="1300" b="1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300" b="1" dirty="0" err="1">
                <a:effectLst/>
                <a:latin typeface="+mj-lt"/>
                <a:ea typeface="Times New Roman" panose="02020603050405020304" pitchFamily="18" charset="0"/>
              </a:rPr>
              <a:t>dùng</a:t>
            </a:r>
            <a:endParaRPr lang="vi-VN" sz="14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Thêm,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xóa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,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sửa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 thông tin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người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dùng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.</a:t>
            </a:r>
            <a:endParaRPr lang="vi-VN" sz="14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Thay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đổi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quyền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 cho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từng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người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vi-VN" sz="1300" dirty="0" err="1">
                <a:effectLst/>
                <a:latin typeface="+mj-lt"/>
                <a:ea typeface="Times New Roman" panose="02020603050405020304" pitchFamily="18" charset="0"/>
              </a:rPr>
              <a:t>dùng</a:t>
            </a:r>
            <a:r>
              <a:rPr lang="vi-VN" sz="1300" dirty="0">
                <a:effectLst/>
                <a:latin typeface="+mj-lt"/>
                <a:ea typeface="Times New Roman" panose="02020603050405020304" pitchFamily="18" charset="0"/>
              </a:rPr>
              <a:t>.</a:t>
            </a:r>
            <a:endParaRPr lang="vi-VN" sz="1400" dirty="0">
              <a:effectLst/>
              <a:latin typeface="+mj-lt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24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+mj-lt"/>
              </a:rPr>
              <a:t>6</a:t>
            </a:fld>
            <a:endParaRPr>
              <a:latin typeface="+mj-lt"/>
            </a:endParaRP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05ACDF41-581A-FAFC-412F-46D2E927AF24}"/>
              </a:ext>
            </a:extLst>
          </p:cNvPr>
          <p:cNvSpPr txBox="1"/>
          <p:nvPr/>
        </p:nvSpPr>
        <p:spPr>
          <a:xfrm>
            <a:off x="-1175659" y="759623"/>
            <a:ext cx="6216011" cy="3928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7400" lvl="4" indent="-228600" algn="just">
              <a:lnSpc>
                <a:spcPct val="150000"/>
              </a:lnSpc>
              <a:spcBef>
                <a:spcPts val="945"/>
              </a:spcBef>
              <a:spcAft>
                <a:spcPts val="0"/>
              </a:spcAft>
              <a:buSzPts val="1300"/>
              <a:buFont typeface="DejaVu Sans"/>
              <a:buChar char="▪"/>
            </a:pP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Yêu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cầu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về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giao</a:t>
            </a:r>
            <a:r>
              <a:rPr lang="en-US" sz="1300" b="1" spc="-1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diện</a:t>
            </a:r>
            <a:endParaRPr lang="en-US" sz="1300" b="1" dirty="0">
              <a:latin typeface="+mn-lt"/>
              <a:ea typeface="DejaVu Sans"/>
              <a:cs typeface="DejaVu Sans"/>
            </a:endParaRPr>
          </a:p>
          <a:p>
            <a:pPr marL="2114550" lvl="4" indent="-285750" algn="just">
              <a:lnSpc>
                <a:spcPct val="150000"/>
              </a:lnSpc>
              <a:spcBef>
                <a:spcPts val="945"/>
              </a:spcBef>
              <a:spcAft>
                <a:spcPts val="0"/>
              </a:spcAft>
              <a:buSzPts val="1300"/>
              <a:buFont typeface="Courier New" panose="02070309020205020404" pitchFamily="49" charset="0"/>
              <a:buChar char="o"/>
            </a:pP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Giao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diện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thân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thiện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,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dễ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nhìn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,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bố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cục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hợp</a:t>
            </a:r>
            <a:r>
              <a:rPr lang="en-US" sz="1300" spc="-6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lý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.</a:t>
            </a:r>
            <a:endParaRPr lang="en-US" sz="1300" dirty="0">
              <a:latin typeface="+mn-lt"/>
              <a:ea typeface="Courier New" panose="02070309020205020404" pitchFamily="49" charset="0"/>
            </a:endParaRPr>
          </a:p>
          <a:p>
            <a:pPr marL="2114550" lvl="4" indent="-285750" algn="just">
              <a:lnSpc>
                <a:spcPct val="150000"/>
              </a:lnSpc>
              <a:spcBef>
                <a:spcPts val="945"/>
              </a:spcBef>
              <a:spcAft>
                <a:spcPts val="0"/>
              </a:spcAft>
              <a:buSzPts val="1300"/>
              <a:buFont typeface="Courier New" panose="02070309020205020404" pitchFamily="49" charset="0"/>
              <a:buChar char="o"/>
            </a:pP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Màu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sắc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rõ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ràng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,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cân</a:t>
            </a:r>
            <a:r>
              <a:rPr lang="en-US" sz="1300" spc="-15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đối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.</a:t>
            </a:r>
            <a:endParaRPr lang="en-US" sz="1300" dirty="0">
              <a:latin typeface="+mn-lt"/>
              <a:ea typeface="Courier New" panose="02070309020205020404" pitchFamily="49" charset="0"/>
            </a:endParaRPr>
          </a:p>
          <a:p>
            <a:pPr marL="2114550" lvl="4" indent="-285750" algn="just">
              <a:lnSpc>
                <a:spcPct val="150000"/>
              </a:lnSpc>
              <a:spcBef>
                <a:spcPts val="945"/>
              </a:spcBef>
              <a:spcAft>
                <a:spcPts val="0"/>
              </a:spcAft>
              <a:buSzPts val="1300"/>
              <a:buFont typeface="Courier New" panose="02070309020205020404" pitchFamily="49" charset="0"/>
              <a:buChar char="o"/>
            </a:pPr>
            <a:r>
              <a:rPr lang="en-US" sz="1300" spc="-15" dirty="0" err="1">
                <a:effectLst/>
                <a:latin typeface="+mn-lt"/>
                <a:ea typeface="Courier New" panose="02070309020205020404" pitchFamily="49" charset="0"/>
              </a:rPr>
              <a:t>Trực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quan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.</a:t>
            </a:r>
            <a:endParaRPr lang="vi-VN" sz="1300" dirty="0">
              <a:effectLst/>
              <a:latin typeface="+mn-lt"/>
              <a:ea typeface="Courier New" panose="02070309020205020404" pitchFamily="49" charset="0"/>
            </a:endParaRPr>
          </a:p>
          <a:p>
            <a:pPr marL="2057400" lvl="4" indent="-228600" algn="just">
              <a:lnSpc>
                <a:spcPct val="150000"/>
              </a:lnSpc>
              <a:spcBef>
                <a:spcPts val="795"/>
              </a:spcBef>
              <a:spcAft>
                <a:spcPts val="0"/>
              </a:spcAft>
              <a:buSzPts val="1300"/>
              <a:buFont typeface="DejaVu Sans"/>
              <a:buChar char="▪"/>
            </a:pP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Yêu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cầu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về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bảo</a:t>
            </a:r>
            <a:r>
              <a:rPr lang="en-US" sz="1300" b="1" spc="-1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mật</a:t>
            </a:r>
            <a:endParaRPr lang="en-US" sz="1300" b="1" dirty="0">
              <a:latin typeface="+mn-lt"/>
              <a:ea typeface="DejaVu Sans"/>
              <a:cs typeface="DejaVu Sans"/>
            </a:endParaRPr>
          </a:p>
          <a:p>
            <a:pPr marL="2114550" lvl="4" indent="-285750" algn="just">
              <a:lnSpc>
                <a:spcPct val="150000"/>
              </a:lnSpc>
              <a:spcBef>
                <a:spcPts val="795"/>
              </a:spcBef>
              <a:spcAft>
                <a:spcPts val="0"/>
              </a:spcAft>
              <a:buSzPts val="1300"/>
              <a:buFont typeface="Courier New" panose="02070309020205020404" pitchFamily="49" charset="0"/>
              <a:buChar char="o"/>
            </a:pP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Các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dữ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liệu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quan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trọng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như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mật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khẩu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được</a:t>
            </a:r>
            <a:r>
              <a:rPr lang="en-US" sz="1300" spc="-105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mã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hóa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.</a:t>
            </a:r>
            <a:endParaRPr lang="en-US" sz="1300" dirty="0">
              <a:latin typeface="+mn-lt"/>
              <a:ea typeface="Courier New" panose="02070309020205020404" pitchFamily="49" charset="0"/>
            </a:endParaRPr>
          </a:p>
          <a:p>
            <a:pPr marL="2114550" lvl="4" indent="-285750" algn="just">
              <a:lnSpc>
                <a:spcPct val="150000"/>
              </a:lnSpc>
              <a:spcBef>
                <a:spcPts val="795"/>
              </a:spcBef>
              <a:spcAft>
                <a:spcPts val="0"/>
              </a:spcAft>
              <a:buSzPts val="1300"/>
              <a:buFont typeface="Courier New" panose="02070309020205020404" pitchFamily="49" charset="0"/>
              <a:buChar char="o"/>
            </a:pP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Phân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quyền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rõ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ràng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,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linh</a:t>
            </a:r>
            <a:r>
              <a:rPr lang="en-US" sz="1300" spc="-3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hoạt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.</a:t>
            </a:r>
          </a:p>
          <a:p>
            <a:pPr marL="1828800" lvl="4" algn="just">
              <a:lnSpc>
                <a:spcPct val="150000"/>
              </a:lnSpc>
              <a:spcBef>
                <a:spcPts val="795"/>
              </a:spcBef>
              <a:spcAft>
                <a:spcPts val="0"/>
              </a:spcAft>
              <a:buSzPts val="1300"/>
            </a:pP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Yêu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cầu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về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môi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trường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sử</a:t>
            </a:r>
            <a:r>
              <a:rPr lang="en-US" sz="1300" b="1" spc="-2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dụng</a:t>
            </a:r>
            <a:endParaRPr lang="en-US" sz="1300" b="1" dirty="0">
              <a:latin typeface="+mn-lt"/>
              <a:ea typeface="DejaVu Sans"/>
              <a:cs typeface="DejaVu Sans"/>
            </a:endParaRPr>
          </a:p>
          <a:p>
            <a:pPr marL="2114550" lvl="4" indent="-285750" algn="just">
              <a:lnSpc>
                <a:spcPct val="150000"/>
              </a:lnSpc>
              <a:spcBef>
                <a:spcPts val="795"/>
              </a:spcBef>
              <a:spcAft>
                <a:spcPts val="0"/>
              </a:spcAft>
              <a:buSzPts val="1300"/>
              <a:buFont typeface="Courier New" panose="02070309020205020404" pitchFamily="49" charset="0"/>
              <a:buChar char="o"/>
            </a:pP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Tương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thích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trên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hệ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điều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hành</a:t>
            </a:r>
            <a:r>
              <a:rPr lang="en-US" sz="1300" spc="-6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Windows.</a:t>
            </a:r>
            <a:endParaRPr lang="vi-VN" sz="1300" dirty="0">
              <a:effectLst/>
              <a:latin typeface="+mn-lt"/>
              <a:ea typeface="Courier New" panose="02070309020205020404" pitchFamily="49" charset="0"/>
            </a:endParaRPr>
          </a:p>
          <a:p>
            <a:pPr marL="2514600" lvl="5" indent="-228600" algn="just">
              <a:lnSpc>
                <a:spcPct val="150000"/>
              </a:lnSpc>
              <a:spcBef>
                <a:spcPts val="90"/>
              </a:spcBef>
              <a:spcAft>
                <a:spcPts val="0"/>
              </a:spcAft>
              <a:buSzPts val="1300"/>
              <a:buFont typeface="Courier New" panose="02070309020205020404" pitchFamily="49" charset="0"/>
              <a:buChar char="o"/>
              <a:tabLst>
                <a:tab pos="2684145" algn="l"/>
                <a:tab pos="2684780" algn="l"/>
              </a:tabLst>
            </a:pPr>
            <a:endParaRPr lang="vi-VN" sz="1300" dirty="0">
              <a:effectLst/>
              <a:latin typeface="+mn-lt"/>
              <a:ea typeface="Courier New" panose="02070309020205020404" pitchFamily="49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D32154ED-E477-5EB4-2806-14AD53829ED1}"/>
              </a:ext>
            </a:extLst>
          </p:cNvPr>
          <p:cNvSpPr txBox="1"/>
          <p:nvPr/>
        </p:nvSpPr>
        <p:spPr>
          <a:xfrm>
            <a:off x="1786805" y="76078"/>
            <a:ext cx="4572000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0" lvl="4" algn="just" fontAlgn="base">
              <a:lnSpc>
                <a:spcPct val="150000"/>
              </a:lnSpc>
              <a:spcBef>
                <a:spcPts val="200"/>
              </a:spcBef>
              <a:buClr>
                <a:srgbClr val="000000"/>
              </a:buClr>
              <a:buSzPts val="1300"/>
            </a:pPr>
            <a:r>
              <a:rPr lang="vi-VN" sz="2400" b="1" i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Yêu </a:t>
            </a:r>
            <a:r>
              <a:rPr lang="vi-VN" sz="2400" b="1" i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cầu</a:t>
            </a:r>
            <a:r>
              <a:rPr lang="vi-VN" sz="2400" b="1" i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400" b="1" i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khác</a:t>
            </a:r>
            <a:endParaRPr lang="vi-VN" sz="2400" b="1" u="none" strike="noStrike" kern="0" spc="0" dirty="0">
              <a:ln>
                <a:noFill/>
              </a:ln>
              <a:effectLst>
                <a:glow>
                  <a:srgbClr val="000000"/>
                </a:glow>
                <a:outerShdw sx="0" sy="0">
                  <a:srgbClr val="000000"/>
                </a:outerShdw>
                <a:reflection stA="0" endPos="0" fadeDir="0" sx="0" sy="0"/>
              </a:effectLst>
              <a:latin typeface="+mn-lt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F8B2C68F-4278-C80D-BD15-8EA52E2BDD15}"/>
              </a:ext>
            </a:extLst>
          </p:cNvPr>
          <p:cNvSpPr txBox="1"/>
          <p:nvPr/>
        </p:nvSpPr>
        <p:spPr>
          <a:xfrm>
            <a:off x="3250727" y="548232"/>
            <a:ext cx="5350582" cy="588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0" lvl="4" algn="just">
              <a:lnSpc>
                <a:spcPct val="150000"/>
              </a:lnSpc>
              <a:spcBef>
                <a:spcPts val="795"/>
              </a:spcBef>
              <a:spcAft>
                <a:spcPts val="0"/>
              </a:spcAft>
              <a:buSzPts val="1300"/>
            </a:pP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Yêu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cầu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về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khả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năng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tiến</a:t>
            </a:r>
            <a:r>
              <a:rPr lang="en-US" sz="1300" b="1" spc="-2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hóa</a:t>
            </a:r>
            <a:endParaRPr lang="en-US" sz="1300" b="1" dirty="0">
              <a:latin typeface="+mn-lt"/>
              <a:ea typeface="DejaVu Sans"/>
              <a:cs typeface="DejaVu Sans"/>
            </a:endParaRPr>
          </a:p>
          <a:p>
            <a:pPr marL="2114550" lvl="4" indent="-285750" algn="just">
              <a:lnSpc>
                <a:spcPct val="150000"/>
              </a:lnSpc>
              <a:spcBef>
                <a:spcPts val="795"/>
              </a:spcBef>
              <a:spcAft>
                <a:spcPts val="0"/>
              </a:spcAft>
              <a:buSzPts val="1300"/>
              <a:buFont typeface="Courier New" panose="02070309020205020404" pitchFamily="49" charset="0"/>
              <a:buChar char="o"/>
            </a:pP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Không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khó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để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nâng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cấp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phần</a:t>
            </a:r>
            <a:r>
              <a:rPr lang="en-US" sz="1300" spc="-35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mềm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.</a:t>
            </a:r>
            <a:endParaRPr lang="en-US" sz="1300" dirty="0">
              <a:latin typeface="+mn-lt"/>
              <a:ea typeface="Courier New" panose="02070309020205020404" pitchFamily="49" charset="0"/>
            </a:endParaRPr>
          </a:p>
          <a:p>
            <a:pPr marL="2114550" lvl="4" indent="-285750" algn="just">
              <a:lnSpc>
                <a:spcPct val="150000"/>
              </a:lnSpc>
              <a:spcBef>
                <a:spcPts val="795"/>
              </a:spcBef>
              <a:spcAft>
                <a:spcPts val="0"/>
              </a:spcAft>
              <a:buSzPts val="1300"/>
              <a:buFont typeface="Courier New" panose="02070309020205020404" pitchFamily="49" charset="0"/>
              <a:buChar char="o"/>
            </a:pP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Sử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dụng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đúng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tiêu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chuẩn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của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mô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hình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,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sắp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xếp</a:t>
            </a:r>
            <a:r>
              <a:rPr lang="en-US" sz="1300" spc="-11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linh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hoạt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,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rõ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ràng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và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một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cách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logic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các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vùng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,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các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lớp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,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các</a:t>
            </a:r>
            <a:r>
              <a:rPr lang="en-US" sz="1300" spc="-1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biến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.</a:t>
            </a:r>
            <a:endParaRPr lang="en-US" sz="1300" dirty="0">
              <a:latin typeface="+mn-lt"/>
              <a:ea typeface="Courier New" panose="02070309020205020404" pitchFamily="49" charset="0"/>
            </a:endParaRPr>
          </a:p>
          <a:p>
            <a:pPr marL="2114550" lvl="4" indent="-285750" algn="just">
              <a:lnSpc>
                <a:spcPct val="150000"/>
              </a:lnSpc>
              <a:spcBef>
                <a:spcPts val="795"/>
              </a:spcBef>
              <a:spcAft>
                <a:spcPts val="0"/>
              </a:spcAft>
              <a:buSzPts val="1300"/>
              <a:buFont typeface="Courier New" panose="02070309020205020404" pitchFamily="49" charset="0"/>
              <a:buChar char="o"/>
            </a:pP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Code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theo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một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quy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tắc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chung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dễ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dàng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đọc</a:t>
            </a:r>
            <a:r>
              <a:rPr lang="en-US" sz="1300" spc="-95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hiểu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,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biến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đổi</a:t>
            </a:r>
            <a:r>
              <a:rPr lang="en-US" sz="1300" dirty="0">
                <a:effectLst/>
                <a:latin typeface="+mn-lt"/>
                <a:ea typeface="Courier New" panose="02070309020205020404" pitchFamily="49" charset="0"/>
              </a:rPr>
              <a:t>,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thích</a:t>
            </a:r>
            <a:r>
              <a:rPr lang="en-US" sz="1300" spc="-30" dirty="0">
                <a:effectLst/>
                <a:latin typeface="+mn-lt"/>
                <a:ea typeface="Courier New" panose="02070309020205020404" pitchFamily="49" charset="0"/>
              </a:rPr>
              <a:t> </a:t>
            </a:r>
            <a:r>
              <a:rPr lang="en-US" sz="1300" dirty="0" err="1">
                <a:effectLst/>
                <a:latin typeface="+mn-lt"/>
                <a:ea typeface="Courier New" panose="02070309020205020404" pitchFamily="49" charset="0"/>
              </a:rPr>
              <a:t>nghi</a:t>
            </a:r>
            <a:r>
              <a:rPr lang="en-US" sz="1300" dirty="0">
                <a:latin typeface="+mn-lt"/>
                <a:ea typeface="Courier New" panose="02070309020205020404" pitchFamily="49" charset="0"/>
              </a:rPr>
              <a:t>.</a:t>
            </a:r>
          </a:p>
          <a:p>
            <a:pPr marL="1828800" lvl="4" algn="just">
              <a:lnSpc>
                <a:spcPct val="150000"/>
              </a:lnSpc>
              <a:spcBef>
                <a:spcPts val="795"/>
              </a:spcBef>
              <a:buSzPts val="1300"/>
            </a:pP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Yêu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cầu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về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tính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hiệu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quả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,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đúng</a:t>
            </a:r>
            <a:r>
              <a:rPr lang="en-US" sz="1300" b="1" spc="-10" dirty="0">
                <a:effectLst/>
                <a:latin typeface="+mn-lt"/>
                <a:ea typeface="DejaVu Sans"/>
                <a:cs typeface="DejaVu Sans"/>
              </a:rPr>
              <a:t> </a:t>
            </a:r>
            <a:r>
              <a:rPr lang="en-US" sz="1300" b="1" dirty="0" err="1">
                <a:effectLst/>
                <a:latin typeface="+mn-lt"/>
                <a:ea typeface="DejaVu Sans"/>
                <a:cs typeface="DejaVu Sans"/>
              </a:rPr>
              <a:t>đắn</a:t>
            </a:r>
            <a:r>
              <a:rPr lang="en-US" sz="1300" b="1" dirty="0">
                <a:effectLst/>
                <a:latin typeface="+mn-lt"/>
                <a:ea typeface="DejaVu Sans"/>
                <a:cs typeface="DejaVu Sans"/>
              </a:rPr>
              <a:t> </a:t>
            </a:r>
          </a:p>
          <a:p>
            <a:pPr marL="2114550" lvl="4" indent="-285750" algn="just">
              <a:lnSpc>
                <a:spcPct val="150000"/>
              </a:lnSpc>
              <a:spcBef>
                <a:spcPts val="795"/>
              </a:spcBef>
              <a:buSzPts val="1300"/>
              <a:buFont typeface="Courier New" panose="02070309020205020404" pitchFamily="49" charset="0"/>
              <a:buChar char="o"/>
            </a:pP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Bảo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đảm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tính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toàn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vẹn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của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dữ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liệu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.</a:t>
            </a:r>
          </a:p>
          <a:p>
            <a:pPr marL="2114550" lvl="4" indent="-285750" algn="just">
              <a:lnSpc>
                <a:spcPct val="150000"/>
              </a:lnSpc>
              <a:spcBef>
                <a:spcPts val="795"/>
              </a:spcBef>
              <a:buSzPts val="1300"/>
              <a:buFont typeface="Courier New" panose="02070309020205020404" pitchFamily="49" charset="0"/>
              <a:buChar char="o"/>
            </a:pP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Quản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lý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dữ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liệu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một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cách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logic,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phân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hoạch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chức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năng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một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cách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rõ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n-lt"/>
                <a:ea typeface="Times New Roman" panose="02020603050405020304" pitchFamily="18" charset="0"/>
              </a:rPr>
              <a:t>ràng</a:t>
            </a:r>
            <a:r>
              <a:rPr lang="en-US" sz="1300" dirty="0">
                <a:effectLst/>
                <a:latin typeface="+mn-lt"/>
                <a:ea typeface="Times New Roman" panose="02020603050405020304" pitchFamily="18" charset="0"/>
              </a:rPr>
              <a:t>.</a:t>
            </a:r>
            <a:endParaRPr lang="vi-VN" sz="13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1828800" lvl="4" algn="just">
              <a:lnSpc>
                <a:spcPct val="150000"/>
              </a:lnSpc>
              <a:spcBef>
                <a:spcPts val="795"/>
              </a:spcBef>
              <a:buSzPts val="1300"/>
            </a:pPr>
            <a:endParaRPr lang="vi-VN" sz="13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1828800" lvl="4" algn="just">
              <a:lnSpc>
                <a:spcPct val="150000"/>
              </a:lnSpc>
              <a:spcBef>
                <a:spcPts val="795"/>
              </a:spcBef>
              <a:buSzPts val="1300"/>
            </a:pPr>
            <a:endParaRPr lang="en-US" sz="1300" b="1" dirty="0">
              <a:effectLst/>
              <a:latin typeface="+mn-lt"/>
              <a:ea typeface="DejaVu Sans"/>
              <a:cs typeface="DejaVu Sans"/>
            </a:endParaRPr>
          </a:p>
          <a:p>
            <a:pPr marL="1828800" lvl="4" algn="just">
              <a:lnSpc>
                <a:spcPct val="150000"/>
              </a:lnSpc>
              <a:spcBef>
                <a:spcPts val="795"/>
              </a:spcBef>
              <a:spcAft>
                <a:spcPts val="0"/>
              </a:spcAft>
              <a:buSzPts val="1300"/>
            </a:pPr>
            <a:endParaRPr lang="en-US" sz="1300" dirty="0">
              <a:latin typeface="+mn-lt"/>
              <a:ea typeface="Courier New" panose="02070309020205020404" pitchFamily="49" charset="0"/>
            </a:endParaRPr>
          </a:p>
          <a:p>
            <a:pPr marL="2286000" marR="916305" lvl="5" algn="just">
              <a:lnSpc>
                <a:spcPct val="150000"/>
              </a:lnSpc>
              <a:spcBef>
                <a:spcPts val="445"/>
              </a:spcBef>
              <a:spcAft>
                <a:spcPts val="0"/>
              </a:spcAft>
              <a:buSzPts val="1300"/>
              <a:tabLst>
                <a:tab pos="2684145" algn="l"/>
                <a:tab pos="2684780" algn="l"/>
              </a:tabLst>
            </a:pPr>
            <a:endParaRPr lang="en-US" sz="1300" b="1" dirty="0">
              <a:effectLst/>
              <a:latin typeface="+mn-lt"/>
              <a:ea typeface="DejaVu Sans"/>
              <a:cs typeface="DejaVu Sans"/>
            </a:endParaRPr>
          </a:p>
          <a:p>
            <a:pPr marL="2286000" marR="916305" lvl="5" algn="just">
              <a:lnSpc>
                <a:spcPct val="150000"/>
              </a:lnSpc>
              <a:spcBef>
                <a:spcPts val="445"/>
              </a:spcBef>
              <a:spcAft>
                <a:spcPts val="0"/>
              </a:spcAft>
              <a:buSzPts val="1300"/>
              <a:tabLst>
                <a:tab pos="2684145" algn="l"/>
                <a:tab pos="2684780" algn="l"/>
              </a:tabLst>
            </a:pPr>
            <a:endParaRPr lang="vi-VN" sz="1300" b="1" dirty="0">
              <a:effectLst/>
              <a:latin typeface="+mn-lt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090658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550A549A-57B5-D02B-FA79-AC01DB6C8E45}"/>
              </a:ext>
            </a:extLst>
          </p:cNvPr>
          <p:cNvSpPr txBox="1"/>
          <p:nvPr/>
        </p:nvSpPr>
        <p:spPr>
          <a:xfrm>
            <a:off x="-185853" y="1337533"/>
            <a:ext cx="8688300" cy="2468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2" algn="just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300"/>
            </a:pPr>
            <a:r>
              <a:rPr lang="vi-VN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Đối</a:t>
            </a:r>
            <a:r>
              <a:rPr lang="vi-VN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tượng</a:t>
            </a:r>
            <a:r>
              <a:rPr lang="vi-VN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sử</a:t>
            </a:r>
            <a:r>
              <a:rPr lang="vi-VN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dụng</a:t>
            </a:r>
            <a:r>
              <a:rPr lang="en-US" b="1" dirty="0"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pc="-4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lang="en-US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dirty="0"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algn="just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300"/>
            </a:pPr>
            <a:r>
              <a:rPr lang="vi-VN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Quy </a:t>
            </a:r>
            <a:r>
              <a:rPr lang="vi-VN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trình</a:t>
            </a:r>
            <a:r>
              <a:rPr lang="vi-VN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làm</a:t>
            </a:r>
            <a:r>
              <a:rPr lang="vi-VN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việc</a:t>
            </a:r>
            <a:r>
              <a:rPr lang="vi-VN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chính</a:t>
            </a:r>
            <a:r>
              <a:rPr lang="vi-VN" b="1" dirty="0"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Hiện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nay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có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rất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nhiều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quy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phát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triển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phần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mềm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khác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nhau. </a:t>
            </a:r>
            <a:r>
              <a:rPr lang="vi-VN" spc="-15" dirty="0">
                <a:effectLst/>
                <a:latin typeface="+mn-lt"/>
                <a:ea typeface="Times New Roman" panose="02020603050405020304" pitchFamily="18" charset="0"/>
              </a:rPr>
              <a:t>Tuy 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nhiên theo yêu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cầu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của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đề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tài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và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gợi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ý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của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giảng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viên,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nhóm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đã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sử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dụng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mô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hình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thác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nước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cải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tiến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. Mô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hình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trên bao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gồm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các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tự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: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xác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định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yêu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cầu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, phân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tích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thiết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kế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cài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đặt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kiểm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thử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bảo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trì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. Trong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đó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kết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quả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của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giai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đoạn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trước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là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cơ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sở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đầu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vào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của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giai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đoạn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sau.Vì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pc="-25" dirty="0" err="1">
                <a:effectLst/>
                <a:latin typeface="+mn-lt"/>
                <a:ea typeface="Times New Roman" panose="02020603050405020304" pitchFamily="18" charset="0"/>
              </a:rPr>
              <a:t>vậy</a:t>
            </a:r>
            <a:r>
              <a:rPr lang="vi-VN" spc="-25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nếu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như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có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lỗi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xảy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ra,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nhóm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có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thể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quay lui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để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sửa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lỗi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và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tối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ưu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phần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mềm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trong khi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tiến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độ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hiện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tại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vẫn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được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duy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trì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4413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+mj-lt"/>
              </a:rPr>
              <a:t>8</a:t>
            </a:fld>
            <a:endParaRPr>
              <a:latin typeface="+mj-lt"/>
            </a:endParaRPr>
          </a:p>
        </p:txBody>
      </p:sp>
      <p:sp>
        <p:nvSpPr>
          <p:cNvPr id="16" name="Google Shape;110;p18">
            <a:extLst>
              <a:ext uri="{FF2B5EF4-FFF2-40B4-BE49-F238E27FC236}">
                <a16:creationId xmlns:a16="http://schemas.microsoft.com/office/drawing/2014/main" id="{A63D843F-8AF0-EAAD-1F32-9A82E545D7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69299" y="1282488"/>
            <a:ext cx="6548319" cy="331152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vi-VN" sz="1400" b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Cụ</a:t>
            </a:r>
            <a:r>
              <a:rPr lang="vi-VN" sz="1400" b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b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thể</a:t>
            </a:r>
            <a:r>
              <a:rPr lang="vi-VN" sz="1400" b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b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các</a:t>
            </a:r>
            <a:r>
              <a:rPr lang="vi-VN" sz="1400" b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b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vi-VN" sz="1400" b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b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tự</a:t>
            </a:r>
            <a:r>
              <a:rPr lang="vi-VN" sz="1400" b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b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phát</a:t>
            </a:r>
            <a:r>
              <a:rPr lang="vi-VN" sz="1400" b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b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triển</a:t>
            </a:r>
            <a:r>
              <a:rPr lang="vi-VN" sz="1400" b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b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phần</a:t>
            </a:r>
            <a:r>
              <a:rPr lang="vi-VN" sz="1400" b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b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mềm</a:t>
            </a:r>
            <a:r>
              <a:rPr lang="vi-VN" sz="1400" b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b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của</a:t>
            </a:r>
            <a:r>
              <a:rPr lang="vi-VN" sz="1400" b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b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nhóm</a:t>
            </a:r>
            <a:r>
              <a:rPr lang="vi-VN" sz="1400" b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như sau:</a:t>
            </a:r>
          </a:p>
          <a:p>
            <a:pPr marL="342900" marR="876300" lvl="0" indent="-342900" algn="just">
              <a:lnSpc>
                <a:spcPct val="150000"/>
              </a:lnSpc>
              <a:spcBef>
                <a:spcPts val="745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1884680" algn="l"/>
              </a:tabLst>
            </a:pP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Xác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định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yêu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cầu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: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Khảo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sát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yêu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cầu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người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dùng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lập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ra</a:t>
            </a:r>
            <a:r>
              <a:rPr lang="vi-VN" sz="1400" spc="-14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bảng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các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yêu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cầu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và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quy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định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cụ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thể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cho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phần</a:t>
            </a:r>
            <a:r>
              <a:rPr lang="vi-VN" sz="1400" spc="-65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mềm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.</a:t>
            </a:r>
          </a:p>
          <a:p>
            <a:pPr marL="342900" marR="687705" lvl="0" indent="-34290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1884680" algn="l"/>
              </a:tabLst>
            </a:pP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Phân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tích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: Phân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loại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các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yêu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cầu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và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lập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sơ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đồ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luồng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dữ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liệu</a:t>
            </a:r>
            <a:r>
              <a:rPr lang="vi-VN" sz="1400" spc="-145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cho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từng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yêu</a:t>
            </a:r>
            <a:r>
              <a:rPr lang="vi-VN" sz="1400" spc="-15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cầu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Thiết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kế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: Mô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tả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các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thành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phần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của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phần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mềm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một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cách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rõ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ràng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gồm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có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thiết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kế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hệ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thống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kiến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trúc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các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đối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tượng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,</a:t>
            </a:r>
            <a:r>
              <a:rPr lang="vi-VN" sz="1400" spc="-135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thiết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kế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cơ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sở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dữ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liệu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và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giao</a:t>
            </a:r>
            <a:r>
              <a:rPr lang="vi-VN" sz="1400" spc="-25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diện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Cài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đặt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: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Dựa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theo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những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thiết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kế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và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phân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tích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tiến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hành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xây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dựng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chương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thực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tế</a:t>
            </a:r>
            <a:endParaRPr lang="vi-VN" sz="1400" dirty="0">
              <a:solidFill>
                <a:schemeClr val="tx1">
                  <a:lumMod val="50000"/>
                </a:schemeClr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Kiểm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thử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: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Chạy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thực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nghiệm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và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đánh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giá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tìm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và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sữa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400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lỗi</a:t>
            </a:r>
            <a:r>
              <a:rPr lang="vi-VN" sz="1400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.</a:t>
            </a:r>
          </a:p>
          <a:p>
            <a:pPr marL="32004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▫"/>
            </a:pPr>
            <a:endParaRPr sz="1400" dirty="0">
              <a:solidFill>
                <a:schemeClr val="tx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3257D2E9-A4C8-6FF1-9876-A17CAC6F6CB7}"/>
              </a:ext>
            </a:extLst>
          </p:cNvPr>
          <p:cNvSpPr txBox="1"/>
          <p:nvPr/>
        </p:nvSpPr>
        <p:spPr>
          <a:xfrm>
            <a:off x="3391696" y="36640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Quy </a:t>
            </a:r>
            <a:r>
              <a:rPr lang="vi-VN" sz="2000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trình</a:t>
            </a:r>
            <a:r>
              <a:rPr lang="vi-VN" sz="20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000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làm</a:t>
            </a:r>
            <a:r>
              <a:rPr lang="vi-VN" sz="20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000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việc</a:t>
            </a:r>
            <a:r>
              <a:rPr lang="vi-VN" sz="20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000" b="1" u="none" strike="noStrike" kern="0" spc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chính</a:t>
            </a:r>
            <a:endParaRPr lang="vi-VN" sz="2000" dirty="0">
              <a:latin typeface="+mn-lt"/>
            </a:endParaRP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BFC735FB-9F85-3C22-8C09-9773D9068FA6}"/>
              </a:ext>
            </a:extLst>
          </p:cNvPr>
          <p:cNvSpPr/>
          <p:nvPr/>
        </p:nvSpPr>
        <p:spPr>
          <a:xfrm>
            <a:off x="1938026" y="963003"/>
            <a:ext cx="455700" cy="41804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7553A119-15AE-A910-6348-5F82F6DE292C}"/>
              </a:ext>
            </a:extLst>
          </p:cNvPr>
          <p:cNvSpPr/>
          <p:nvPr/>
        </p:nvSpPr>
        <p:spPr>
          <a:xfrm>
            <a:off x="1" y="1367883"/>
            <a:ext cx="9143999" cy="33198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0799CDE8-C483-B7AC-6B76-C63E8AA08356}"/>
              </a:ext>
            </a:extLst>
          </p:cNvPr>
          <p:cNvSpPr txBox="1"/>
          <p:nvPr/>
        </p:nvSpPr>
        <p:spPr>
          <a:xfrm>
            <a:off x="386344" y="547675"/>
            <a:ext cx="8301956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</a:pPr>
            <a:r>
              <a:rPr lang="vi-VN" sz="20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CHƯƠNG 2: XÁC ĐỊNH VÀ MÔ HÌNH HÓA YÊU CẦU PHẦN MỀM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17C3FB29-C7A5-AFFC-1EAA-FC55CB5CC506}"/>
              </a:ext>
            </a:extLst>
          </p:cNvPr>
          <p:cNvSpPr txBox="1"/>
          <p:nvPr/>
        </p:nvSpPr>
        <p:spPr>
          <a:xfrm>
            <a:off x="386344" y="1639967"/>
            <a:ext cx="8099288" cy="258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lvl="2" indent="-228600" algn="l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300"/>
              <a:buFont typeface="+mj-lt"/>
              <a:buAutoNum type="arabicPeriod"/>
            </a:pPr>
            <a:r>
              <a:rPr lang="vi-VN" sz="13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Yêu </a:t>
            </a:r>
            <a:r>
              <a:rPr lang="vi-VN" sz="1300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cầu</a:t>
            </a:r>
            <a:r>
              <a:rPr lang="vi-VN" sz="13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1300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nghiệp</a:t>
            </a:r>
            <a:r>
              <a:rPr lang="vi-VN" sz="13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1300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vụ</a:t>
            </a:r>
            <a:endParaRPr lang="vi-VN" sz="1400" b="1" u="none" strike="noStrike" kern="0" spc="0" dirty="0">
              <a:ln>
                <a:noFill/>
              </a:ln>
              <a:effectLst>
                <a:glow>
                  <a:srgbClr val="000000"/>
                </a:glow>
                <a:outerShdw sx="0" sy="0">
                  <a:srgbClr val="000000"/>
                </a:outerShdw>
                <a:reflection stA="0" endPos="0" fadeDir="0" sx="0" sy="0"/>
              </a:effectLst>
              <a:latin typeface="Times New Roman" panose="02020603050405020304" pitchFamily="18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 marL="1600200" lvl="3" indent="-22860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SzPts val="1300"/>
              <a:buFont typeface="DejaVu Sans"/>
              <a:buChar char="▪"/>
            </a:pP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Lưu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trữ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: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Lập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phiếu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tiếp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nhận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xe,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lập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phiếu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sửa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chữa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,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lập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phiếu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thu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tiền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,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lập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báo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cáo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tháng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.</a:t>
            </a:r>
            <a:endParaRPr lang="vi-VN" sz="1400" dirty="0">
              <a:effectLst/>
              <a:latin typeface="Times New Roman" panose="02020603050405020304" pitchFamily="18" charset="0"/>
              <a:ea typeface="DejaVu Sans"/>
              <a:cs typeface="DejaVu Sans"/>
            </a:endParaRPr>
          </a:p>
          <a:p>
            <a:pPr marL="1600200" lvl="3" indent="-22860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SzPts val="1300"/>
              <a:buFont typeface="DejaVu Sans"/>
              <a:buChar char="▪"/>
            </a:pPr>
            <a:r>
              <a:rPr lang="fr-FR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Tra </a:t>
            </a:r>
            <a:r>
              <a:rPr lang="fr-FR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cứu</a:t>
            </a:r>
            <a:r>
              <a:rPr lang="fr-FR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: Tra </a:t>
            </a:r>
            <a:r>
              <a:rPr lang="fr-FR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cứu</a:t>
            </a:r>
            <a:r>
              <a:rPr lang="fr-FR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fr-FR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thông</a:t>
            </a:r>
            <a:r>
              <a:rPr lang="fr-FR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tin </a:t>
            </a:r>
            <a:r>
              <a:rPr lang="fr-FR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xe</a:t>
            </a:r>
            <a:r>
              <a:rPr lang="fr-FR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.</a:t>
            </a:r>
            <a:endParaRPr lang="vi-VN" sz="1400" dirty="0">
              <a:effectLst/>
              <a:latin typeface="Times New Roman" panose="02020603050405020304" pitchFamily="18" charset="0"/>
              <a:ea typeface="DejaVu Sans"/>
              <a:cs typeface="DejaVu Sans"/>
            </a:endParaRPr>
          </a:p>
          <a:p>
            <a:pPr marL="1600200" lvl="3" indent="-22860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SzPts val="1300"/>
              <a:buFont typeface="DejaVu Sans"/>
              <a:buChar char="▪"/>
            </a:pPr>
            <a:r>
              <a:rPr lang="fr-FR" sz="14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Kết</a:t>
            </a:r>
            <a:r>
              <a:rPr lang="fr-FR" sz="14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fr-FR" sz="14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xuất</a:t>
            </a:r>
            <a:r>
              <a:rPr lang="fr-FR" sz="14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: </a:t>
            </a:r>
            <a:r>
              <a:rPr lang="fr-FR" sz="14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Lập</a:t>
            </a:r>
            <a:r>
              <a:rPr lang="fr-FR" sz="14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fr-FR" sz="14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báo</a:t>
            </a:r>
            <a:r>
              <a:rPr lang="fr-FR" sz="14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fr-FR" sz="14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cáo</a:t>
            </a:r>
            <a:r>
              <a:rPr lang="fr-FR" sz="14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fr-FR" sz="14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tháng</a:t>
            </a:r>
            <a:r>
              <a:rPr lang="fr-FR" sz="14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.</a:t>
            </a:r>
            <a:endParaRPr lang="vi-VN" sz="1400" dirty="0">
              <a:effectLst/>
              <a:latin typeface="Times New Roman" panose="02020603050405020304" pitchFamily="18" charset="0"/>
              <a:ea typeface="DejaVu Sans"/>
              <a:cs typeface="DejaVu Sans"/>
            </a:endParaRPr>
          </a:p>
          <a:p>
            <a:pPr marL="1600200" lvl="3" indent="-22860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SzPts val="1300"/>
              <a:buFont typeface="DejaVu Sans"/>
              <a:buChar char="▪"/>
            </a:pPr>
            <a:r>
              <a:rPr lang="fr-FR" sz="14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Tính</a:t>
            </a:r>
            <a:r>
              <a:rPr lang="fr-FR" sz="14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fr-FR" sz="14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toán</a:t>
            </a:r>
            <a:r>
              <a:rPr lang="fr-FR" sz="14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: </a:t>
            </a:r>
            <a:r>
              <a:rPr lang="fr-FR" sz="14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Lập</a:t>
            </a:r>
            <a:r>
              <a:rPr lang="fr-FR" sz="14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fr-FR" sz="14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phiếu</a:t>
            </a:r>
            <a:r>
              <a:rPr lang="fr-FR" sz="14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fr-FR" sz="14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thu</a:t>
            </a:r>
            <a:r>
              <a:rPr lang="fr-FR" sz="14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fr-FR" sz="14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tiền</a:t>
            </a:r>
            <a:r>
              <a:rPr lang="fr-FR" sz="14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fr-FR" sz="14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và</a:t>
            </a:r>
            <a:r>
              <a:rPr lang="fr-FR" sz="14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fr-FR" sz="14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lập</a:t>
            </a:r>
            <a:r>
              <a:rPr lang="fr-FR" sz="14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fr-FR" sz="14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báo</a:t>
            </a:r>
            <a:r>
              <a:rPr lang="fr-FR" sz="14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fr-FR" sz="14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cáo</a:t>
            </a:r>
            <a:r>
              <a:rPr lang="fr-FR" sz="14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fr-FR" sz="14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tháng</a:t>
            </a:r>
            <a:r>
              <a:rPr lang="fr-FR" sz="14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.</a:t>
            </a:r>
            <a:endParaRPr lang="vi-VN" sz="1400" dirty="0">
              <a:effectLst/>
              <a:latin typeface="Times New Roman" panose="02020603050405020304" pitchFamily="18" charset="0"/>
              <a:ea typeface="DejaVu Sans"/>
              <a:cs typeface="DejaVu Sans"/>
            </a:endParaRPr>
          </a:p>
          <a:p>
            <a:pPr marL="1143000" lvl="2" indent="-228600" algn="l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300"/>
              <a:buFont typeface="+mj-lt"/>
              <a:buAutoNum type="arabicPeriod"/>
            </a:pPr>
            <a:r>
              <a:rPr lang="vi-VN" sz="13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Yêu </a:t>
            </a:r>
            <a:r>
              <a:rPr lang="vi-VN" sz="1300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cầu</a:t>
            </a:r>
            <a:r>
              <a:rPr lang="vi-VN" sz="13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1300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chất</a:t>
            </a:r>
            <a:r>
              <a:rPr lang="vi-VN" sz="13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1300" b="1" u="none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lượng</a:t>
            </a:r>
            <a:endParaRPr lang="vi-VN" sz="1400" b="1" u="none" strike="noStrike" kern="0" spc="0" dirty="0">
              <a:ln>
                <a:noFill/>
              </a:ln>
              <a:effectLst>
                <a:glow>
                  <a:srgbClr val="000000"/>
                </a:glow>
                <a:outerShdw sx="0" sy="0">
                  <a:srgbClr val="000000"/>
                </a:outerShdw>
                <a:reflection stA="0" endPos="0" fadeDir="0" sx="0" sy="0"/>
              </a:effectLst>
              <a:latin typeface="Times New Roman" panose="02020603050405020304" pitchFamily="18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 marL="1600200" lvl="3" indent="-228600" algn="l">
              <a:lnSpc>
                <a:spcPct val="150000"/>
              </a:lnSpc>
              <a:spcBef>
                <a:spcPts val="1150"/>
              </a:spcBef>
              <a:spcAft>
                <a:spcPts val="0"/>
              </a:spcAft>
              <a:buSzPts val="1300"/>
              <a:buFont typeface="DejaVu Sans"/>
              <a:buChar char="▪"/>
            </a:pP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Tính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tiến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hóa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: Thay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đổi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quy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định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, phân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quyền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cho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người</a:t>
            </a:r>
            <a:r>
              <a:rPr lang="vi-VN" sz="1300" spc="-85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 </a:t>
            </a:r>
            <a:r>
              <a:rPr lang="vi-VN" sz="1300" dirty="0" err="1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dùng</a:t>
            </a:r>
            <a:r>
              <a:rPr lang="vi-VN" sz="1300" dirty="0">
                <a:effectLst/>
                <a:latin typeface="Times New Roman" panose="02020603050405020304" pitchFamily="18" charset="0"/>
                <a:ea typeface="DejaVu Sans"/>
                <a:cs typeface="DejaVu Sans"/>
              </a:rPr>
              <a:t>.</a:t>
            </a:r>
            <a:endParaRPr lang="vi-VN" sz="1400" dirty="0">
              <a:effectLst/>
              <a:latin typeface="Times New Roman" panose="02020603050405020304" pitchFamily="18" charset="0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2908593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05ACDF41-581A-FAFC-412F-46D2E927AF24}"/>
              </a:ext>
            </a:extLst>
          </p:cNvPr>
          <p:cNvSpPr txBox="1"/>
          <p:nvPr/>
        </p:nvSpPr>
        <p:spPr>
          <a:xfrm>
            <a:off x="-1" y="0"/>
            <a:ext cx="9144000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2" algn="ctr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300"/>
            </a:pPr>
            <a:r>
              <a:rPr lang="vi-VN" sz="2000" b="1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Bảng</a:t>
            </a:r>
            <a:r>
              <a:rPr lang="vi-VN" sz="2000" b="1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000" b="1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trách</a:t>
            </a:r>
            <a:r>
              <a:rPr lang="vi-VN" sz="2000" b="1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000" b="1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nhiệm</a:t>
            </a:r>
            <a:r>
              <a:rPr lang="vi-VN" sz="2000" b="1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yêu </a:t>
            </a:r>
            <a:r>
              <a:rPr lang="vi-VN" sz="2000" b="1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cầu</a:t>
            </a:r>
            <a:r>
              <a:rPr lang="vi-VN" sz="2000" b="1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000" b="1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nghiệp</a:t>
            </a:r>
            <a:r>
              <a:rPr lang="vi-VN" sz="2000" b="1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000" b="1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vụ</a:t>
            </a:r>
            <a:endParaRPr lang="vi-VN" sz="2000" b="1" strike="noStrike" kern="0" spc="0" dirty="0">
              <a:ln>
                <a:noFill/>
              </a:ln>
              <a:effectLst>
                <a:glow>
                  <a:srgbClr val="000000"/>
                </a:glow>
                <a:outerShdw sx="0" sy="0">
                  <a:srgbClr val="000000"/>
                </a:outerShdw>
                <a:reflection stA="0" endPos="0" fadeDir="0" sx="0" sy="0"/>
              </a:effectLst>
              <a:latin typeface="+mn-lt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Bảng 1">
            <a:extLst>
              <a:ext uri="{FF2B5EF4-FFF2-40B4-BE49-F238E27FC236}">
                <a16:creationId xmlns:a16="http://schemas.microsoft.com/office/drawing/2014/main" id="{248678EB-E7E2-52CF-AEA6-7BD2252AE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376667"/>
              </p:ext>
            </p:extLst>
          </p:nvPr>
        </p:nvGraphicFramePr>
        <p:xfrm>
          <a:off x="0" y="412419"/>
          <a:ext cx="9144000" cy="435990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{2146DF28-2150-43F1-838E-3EFDFE06A0C1}</a:tableStyleId>
              </a:tblPr>
              <a:tblGrid>
                <a:gridCol w="702259">
                  <a:extLst>
                    <a:ext uri="{9D8B030D-6E8A-4147-A177-3AD203B41FA5}">
                      <a16:colId xmlns:a16="http://schemas.microsoft.com/office/drawing/2014/main" val="3653792178"/>
                    </a:ext>
                  </a:extLst>
                </a:gridCol>
                <a:gridCol w="1903781">
                  <a:extLst>
                    <a:ext uri="{9D8B030D-6E8A-4147-A177-3AD203B41FA5}">
                      <a16:colId xmlns:a16="http://schemas.microsoft.com/office/drawing/2014/main" val="2272655816"/>
                    </a:ext>
                  </a:extLst>
                </a:gridCol>
                <a:gridCol w="2143354">
                  <a:extLst>
                    <a:ext uri="{9D8B030D-6E8A-4147-A177-3AD203B41FA5}">
                      <a16:colId xmlns:a16="http://schemas.microsoft.com/office/drawing/2014/main" val="1674125057"/>
                    </a:ext>
                  </a:extLst>
                </a:gridCol>
                <a:gridCol w="2050085">
                  <a:extLst>
                    <a:ext uri="{9D8B030D-6E8A-4147-A177-3AD203B41FA5}">
                      <a16:colId xmlns:a16="http://schemas.microsoft.com/office/drawing/2014/main" val="2616238568"/>
                    </a:ext>
                  </a:extLst>
                </a:gridCol>
                <a:gridCol w="2344521">
                  <a:extLst>
                    <a:ext uri="{9D8B030D-6E8A-4147-A177-3AD203B41FA5}">
                      <a16:colId xmlns:a16="http://schemas.microsoft.com/office/drawing/2014/main" val="350240977"/>
                    </a:ext>
                  </a:extLst>
                </a:gridCol>
              </a:tblGrid>
              <a:tr h="181744">
                <a:tc>
                  <a:txBody>
                    <a:bodyPr/>
                    <a:lstStyle/>
                    <a:p>
                      <a:pPr marL="60960" algn="ctr">
                        <a:lnSpc>
                          <a:spcPts val="1700"/>
                        </a:lnSpc>
                      </a:pP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STT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1280" marR="328930" algn="ctr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Nghiệp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vụ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1280" algn="ctr">
                        <a:lnSpc>
                          <a:spcPts val="1700"/>
                        </a:lnSpc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Người dùng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60960" algn="ctr">
                        <a:lnSpc>
                          <a:spcPts val="1700"/>
                        </a:lnSpc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Phần mềm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60960" algn="ctr">
                        <a:lnSpc>
                          <a:spcPts val="1700"/>
                        </a:lnSpc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Ghi chú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extLst>
                  <a:ext uri="{0D108BD9-81ED-4DB2-BD59-A6C34878D82A}">
                    <a16:rowId xmlns:a16="http://schemas.microsoft.com/office/drawing/2014/main" val="1608372019"/>
                  </a:ext>
                </a:extLst>
              </a:tr>
              <a:tr h="471837">
                <a:tc>
                  <a:txBody>
                    <a:bodyPr/>
                    <a:lstStyle/>
                    <a:p>
                      <a:pPr marL="60960" algn="ctr">
                        <a:lnSpc>
                          <a:spcPts val="1700"/>
                        </a:lnSpc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1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30000"/>
                        </a:lnSpc>
                      </a:pP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Tiếp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nhận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bảo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trì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xe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30000"/>
                        </a:lnSpc>
                      </a:pP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Cung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cấp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thông tin xe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30000"/>
                        </a:lnSpc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Kiểm tra quy định và ghi nhận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30000"/>
                        </a:lnSpc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Cho phép huỷ, cập nhật thông tin đã cung cấp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extLst>
                  <a:ext uri="{0D108BD9-81ED-4DB2-BD59-A6C34878D82A}">
                    <a16:rowId xmlns:a16="http://schemas.microsoft.com/office/drawing/2014/main" val="4256905129"/>
                  </a:ext>
                </a:extLst>
              </a:tr>
              <a:tr h="815167">
                <a:tc>
                  <a:txBody>
                    <a:bodyPr/>
                    <a:lstStyle/>
                    <a:p>
                      <a:pPr marL="67945" algn="ctr">
                        <a:lnSpc>
                          <a:spcPts val="1700"/>
                        </a:lnSpc>
                      </a:pP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2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30000"/>
                        </a:lnSpc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Lập phiếu sửa chữa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1280" marR="5016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Lập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phiếu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sửa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chữa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30000"/>
                        </a:lnSpc>
                      </a:pP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Kiểm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tra quy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định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và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ghi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nhận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sym typeface="Inria Serif Light"/>
                      </a:endParaRPr>
                    </a:p>
                    <a:p>
                      <a:pPr marL="82550">
                        <a:lnSpc>
                          <a:spcPct val="130000"/>
                        </a:lnSpc>
                      </a:pP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Xuất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thông tin liên quan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30000"/>
                        </a:lnSpc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Cho phép huỷ, cập nhật thông tin đã cung cấp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extLst>
                  <a:ext uri="{0D108BD9-81ED-4DB2-BD59-A6C34878D82A}">
                    <a16:rowId xmlns:a16="http://schemas.microsoft.com/office/drawing/2014/main" val="460991884"/>
                  </a:ext>
                </a:extLst>
              </a:tr>
              <a:tr h="471837">
                <a:tc>
                  <a:txBody>
                    <a:bodyPr/>
                    <a:lstStyle/>
                    <a:p>
                      <a:pPr marL="67945" algn="ctr">
                        <a:lnSpc>
                          <a:spcPts val="1700"/>
                        </a:lnSpc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3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30000"/>
                        </a:lnSpc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Tra cứu xe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1280" marR="5016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Cung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cấp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thông tin tra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cứu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30000"/>
                        </a:lnSpc>
                      </a:pP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Tìm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và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xuất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thông tin liên quan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30000"/>
                        </a:lnSpc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Cho phép xem chi tiết xe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extLst>
                  <a:ext uri="{0D108BD9-81ED-4DB2-BD59-A6C34878D82A}">
                    <a16:rowId xmlns:a16="http://schemas.microsoft.com/office/drawing/2014/main" val="3012193617"/>
                  </a:ext>
                </a:extLst>
              </a:tr>
              <a:tr h="605927">
                <a:tc>
                  <a:txBody>
                    <a:bodyPr/>
                    <a:lstStyle/>
                    <a:p>
                      <a:pPr marL="67945" algn="ctr">
                        <a:lnSpc>
                          <a:spcPts val="1700"/>
                        </a:lnSpc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4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1280" marR="6794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Lập phiếu thu tiền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30000"/>
                        </a:lnSpc>
                      </a:pP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Cung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cấp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thông tin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khách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hàng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30000"/>
                        </a:lnSpc>
                      </a:pP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Kiểm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tra quy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định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và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ghi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nhận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2550" marR="11239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Cho phép huỷ, cập nhật thông tin đã cung cấp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extLst>
                  <a:ext uri="{0D108BD9-81ED-4DB2-BD59-A6C34878D82A}">
                    <a16:rowId xmlns:a16="http://schemas.microsoft.com/office/drawing/2014/main" val="108644100"/>
                  </a:ext>
                </a:extLst>
              </a:tr>
              <a:tr h="471837">
                <a:tc>
                  <a:txBody>
                    <a:bodyPr/>
                    <a:lstStyle/>
                    <a:p>
                      <a:pPr marL="67945" algn="ctr">
                        <a:lnSpc>
                          <a:spcPts val="1700"/>
                        </a:lnSpc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5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1280" marR="6794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Lập báo cáo tháng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1280" marR="4127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Nhập thông tin tháng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30000"/>
                        </a:lnSpc>
                      </a:pP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Tìm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,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xử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lý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và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xuất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thông tin liên quan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2550" marR="11239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 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extLst>
                  <a:ext uri="{0D108BD9-81ED-4DB2-BD59-A6C34878D82A}">
                    <a16:rowId xmlns:a16="http://schemas.microsoft.com/office/drawing/2014/main" val="1823554983"/>
                  </a:ext>
                </a:extLst>
              </a:tr>
              <a:tr h="605927">
                <a:tc>
                  <a:txBody>
                    <a:bodyPr/>
                    <a:lstStyle/>
                    <a:p>
                      <a:pPr marL="67945" algn="ctr">
                        <a:lnSpc>
                          <a:spcPts val="1700"/>
                        </a:lnSpc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6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1280" marR="6794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Thay đổi quy định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1280" marR="4127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Cung cấp nội dung quy định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30000"/>
                        </a:lnSpc>
                      </a:pP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Kiểm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tra quy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định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và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ghi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nhận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2550" marR="11239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Cho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phép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huỷ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,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cập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nhật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thông tin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đã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cung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cấp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extLst>
                  <a:ext uri="{0D108BD9-81ED-4DB2-BD59-A6C34878D82A}">
                    <a16:rowId xmlns:a16="http://schemas.microsoft.com/office/drawing/2014/main" val="2539780821"/>
                  </a:ext>
                </a:extLst>
              </a:tr>
              <a:tr h="720717">
                <a:tc>
                  <a:txBody>
                    <a:bodyPr/>
                    <a:lstStyle/>
                    <a:p>
                      <a:pPr marL="67945" algn="ctr">
                        <a:lnSpc>
                          <a:spcPts val="1700"/>
                        </a:lnSpc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7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1280" marR="6794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Yêu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cầu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phân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quyền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người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dùng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1280" marR="4127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 b="0" i="0" u="none" strike="noStrike" cap="non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Cung cấp thông tin tài khoản và các quyền được truy cập.</a:t>
                      </a:r>
                      <a:endParaRPr lang="vi-VN" sz="1200" b="0" i="0" u="none" strike="noStrike" cap="non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30000"/>
                        </a:lnSpc>
                      </a:pP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 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tc>
                  <a:txBody>
                    <a:bodyPr/>
                    <a:lstStyle/>
                    <a:p>
                      <a:pPr marL="82550" marR="11239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Cho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phép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hủy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,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cập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nhật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thông tin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đã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 cung </a:t>
                      </a:r>
                      <a:r>
                        <a:rPr lang="vi-VN" sz="1200" b="0" i="0" u="none" strike="noStrike" cap="non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cấp</a:t>
                      </a:r>
                      <a:r>
                        <a:rPr lang="vi-VN" sz="1200" b="0" i="0" u="none" strike="noStrike" cap="non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Inria Serif Light"/>
                        </a:rPr>
                        <a:t>.</a:t>
                      </a:r>
                      <a:endParaRPr lang="vi-VN" sz="1200" b="0" i="0" u="none" strike="noStrike" cap="non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Inria Serif Light"/>
                      </a:endParaRPr>
                    </a:p>
                  </a:txBody>
                  <a:tcPr marL="31447" marR="31447" marT="0" marB="0"/>
                </a:tc>
                <a:extLst>
                  <a:ext uri="{0D108BD9-81ED-4DB2-BD59-A6C34878D82A}">
                    <a16:rowId xmlns:a16="http://schemas.microsoft.com/office/drawing/2014/main" val="295688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9345901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05ACDF41-581A-FAFC-412F-46D2E927AF24}"/>
              </a:ext>
            </a:extLst>
          </p:cNvPr>
          <p:cNvSpPr txBox="1"/>
          <p:nvPr/>
        </p:nvSpPr>
        <p:spPr>
          <a:xfrm>
            <a:off x="-1" y="0"/>
            <a:ext cx="9144000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2" algn="ctr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300"/>
            </a:pPr>
            <a:r>
              <a:rPr lang="vi-VN" sz="2000" b="1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Bảng</a:t>
            </a:r>
            <a:r>
              <a:rPr lang="vi-VN" sz="2000" b="1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000" b="1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trách</a:t>
            </a:r>
            <a:r>
              <a:rPr lang="vi-VN" sz="2000" b="1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000" b="1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nhiệm</a:t>
            </a:r>
            <a:r>
              <a:rPr lang="vi-VN" sz="2000" b="1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yêu </a:t>
            </a:r>
            <a:r>
              <a:rPr lang="vi-VN" sz="2000" b="1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cầu</a:t>
            </a:r>
            <a:r>
              <a:rPr lang="vi-VN" sz="2000" b="1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000" b="1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tiến</a:t>
            </a:r>
            <a:r>
              <a:rPr lang="vi-VN" sz="2000" b="1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000" b="1" strike="noStrike" kern="0" spc="0" dirty="0" err="1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hóa</a:t>
            </a:r>
            <a:endParaRPr lang="vi-VN" sz="2000" b="1" strike="noStrike" kern="0" spc="0" dirty="0">
              <a:ln>
                <a:noFill/>
              </a:ln>
              <a:effectLst>
                <a:glow>
                  <a:srgbClr val="000000"/>
                </a:glow>
                <a:outerShdw sx="0" sy="0">
                  <a:srgbClr val="000000"/>
                </a:outerShdw>
                <a:reflection stA="0" endPos="0" fadeDir="0" sx="0" sy="0"/>
              </a:effectLst>
              <a:latin typeface="+mn-lt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Bảng 2">
            <a:extLst>
              <a:ext uri="{FF2B5EF4-FFF2-40B4-BE49-F238E27FC236}">
                <a16:creationId xmlns:a16="http://schemas.microsoft.com/office/drawing/2014/main" id="{D4E65D45-A6FD-8C9C-FB53-875DB87C4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102235"/>
              </p:ext>
            </p:extLst>
          </p:nvPr>
        </p:nvGraphicFramePr>
        <p:xfrm>
          <a:off x="739477" y="725951"/>
          <a:ext cx="7665044" cy="373284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{2146DF28-2150-43F1-838E-3EFDFE06A0C1}</a:tableStyleId>
              </a:tblPr>
              <a:tblGrid>
                <a:gridCol w="602288">
                  <a:extLst>
                    <a:ext uri="{9D8B030D-6E8A-4147-A177-3AD203B41FA5}">
                      <a16:colId xmlns:a16="http://schemas.microsoft.com/office/drawing/2014/main" val="1031394912"/>
                    </a:ext>
                  </a:extLst>
                </a:gridCol>
                <a:gridCol w="1908735">
                  <a:extLst>
                    <a:ext uri="{9D8B030D-6E8A-4147-A177-3AD203B41FA5}">
                      <a16:colId xmlns:a16="http://schemas.microsoft.com/office/drawing/2014/main" val="2703655190"/>
                    </a:ext>
                  </a:extLst>
                </a:gridCol>
                <a:gridCol w="1604929">
                  <a:extLst>
                    <a:ext uri="{9D8B030D-6E8A-4147-A177-3AD203B41FA5}">
                      <a16:colId xmlns:a16="http://schemas.microsoft.com/office/drawing/2014/main" val="1069872654"/>
                    </a:ext>
                  </a:extLst>
                </a:gridCol>
                <a:gridCol w="1883932">
                  <a:extLst>
                    <a:ext uri="{9D8B030D-6E8A-4147-A177-3AD203B41FA5}">
                      <a16:colId xmlns:a16="http://schemas.microsoft.com/office/drawing/2014/main" val="3345106929"/>
                    </a:ext>
                  </a:extLst>
                </a:gridCol>
                <a:gridCol w="1665160">
                  <a:extLst>
                    <a:ext uri="{9D8B030D-6E8A-4147-A177-3AD203B41FA5}">
                      <a16:colId xmlns:a16="http://schemas.microsoft.com/office/drawing/2014/main" val="1153701597"/>
                    </a:ext>
                  </a:extLst>
                </a:gridCol>
              </a:tblGrid>
              <a:tr h="219894">
                <a:tc>
                  <a:txBody>
                    <a:bodyPr/>
                    <a:lstStyle/>
                    <a:p>
                      <a:pPr marL="60960" algn="ctr"/>
                      <a:r>
                        <a:rPr lang="vi-VN" sz="1200" dirty="0">
                          <a:effectLst/>
                        </a:rPr>
                        <a:t>STT</a:t>
                      </a:r>
                      <a:endParaRPr lang="vi-V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 anchor="ctr"/>
                </a:tc>
                <a:tc>
                  <a:txBody>
                    <a:bodyPr/>
                    <a:lstStyle/>
                    <a:p>
                      <a:pPr marL="81280" marR="32893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vi-VN" sz="1200" dirty="0" err="1">
                          <a:effectLst/>
                        </a:rPr>
                        <a:t>Nghiệp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vụ</a:t>
                      </a:r>
                      <a:endParaRPr lang="vi-V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 anchor="ctr"/>
                </a:tc>
                <a:tc>
                  <a:txBody>
                    <a:bodyPr/>
                    <a:lstStyle/>
                    <a:p>
                      <a:pPr marL="81280" algn="ctr">
                        <a:lnSpc>
                          <a:spcPts val="1475"/>
                        </a:lnSpc>
                      </a:pPr>
                      <a:r>
                        <a:rPr lang="vi-VN" sz="1200">
                          <a:effectLst/>
                        </a:rPr>
                        <a:t>Người dùng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 anchor="ctr"/>
                </a:tc>
                <a:tc>
                  <a:txBody>
                    <a:bodyPr/>
                    <a:lstStyle/>
                    <a:p>
                      <a:pPr marL="60960" algn="ctr"/>
                      <a:r>
                        <a:rPr lang="vi-VN" sz="1200">
                          <a:effectLst/>
                        </a:rPr>
                        <a:t>Phần mềm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 anchor="ctr"/>
                </a:tc>
                <a:tc>
                  <a:txBody>
                    <a:bodyPr/>
                    <a:lstStyle/>
                    <a:p>
                      <a:pPr marL="60960" algn="ctr"/>
                      <a:r>
                        <a:rPr lang="vi-VN" sz="1200">
                          <a:effectLst/>
                        </a:rPr>
                        <a:t>Ghi chú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 anchor="ctr"/>
                </a:tc>
                <a:extLst>
                  <a:ext uri="{0D108BD9-81ED-4DB2-BD59-A6C34878D82A}">
                    <a16:rowId xmlns:a16="http://schemas.microsoft.com/office/drawing/2014/main" val="1341294465"/>
                  </a:ext>
                </a:extLst>
              </a:tr>
              <a:tr h="496691">
                <a:tc>
                  <a:txBody>
                    <a:bodyPr/>
                    <a:lstStyle/>
                    <a:p>
                      <a:pPr marL="60960" algn="ctr"/>
                      <a:r>
                        <a:rPr lang="vi-VN" sz="1200">
                          <a:effectLst/>
                        </a:rPr>
                        <a:t>1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 anchor="ctr"/>
                </a:tc>
                <a:tc>
                  <a:txBody>
                    <a:bodyPr/>
                    <a:lstStyle/>
                    <a:p>
                      <a:pPr marL="81280" marR="328930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Thay </a:t>
                      </a:r>
                      <a:r>
                        <a:rPr lang="vi-VN" sz="1200" dirty="0" err="1">
                          <a:effectLst/>
                        </a:rPr>
                        <a:t>đổi</a:t>
                      </a:r>
                      <a:r>
                        <a:rPr lang="vi-VN" sz="1200" dirty="0">
                          <a:effectLst/>
                        </a:rPr>
                        <a:t> quy </a:t>
                      </a:r>
                      <a:r>
                        <a:rPr lang="vi-VN" sz="1200" dirty="0" err="1">
                          <a:effectLst/>
                        </a:rPr>
                        <a:t>định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về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số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lượng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hiệu</a:t>
                      </a:r>
                      <a:r>
                        <a:rPr lang="vi-VN" sz="1200" dirty="0">
                          <a:effectLst/>
                        </a:rPr>
                        <a:t> xe</a:t>
                      </a:r>
                      <a:endParaRPr lang="vi-V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30000"/>
                        </a:lnSpc>
                      </a:pPr>
                      <a:r>
                        <a:rPr lang="vi-VN" sz="1200" dirty="0">
                          <a:effectLst/>
                        </a:rPr>
                        <a:t>Cho </a:t>
                      </a:r>
                      <a:r>
                        <a:rPr lang="vi-VN" sz="1200" dirty="0" err="1">
                          <a:effectLst/>
                        </a:rPr>
                        <a:t>biết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giá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trị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mới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về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số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lượng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hiệu</a:t>
                      </a:r>
                      <a:r>
                        <a:rPr lang="vi-VN" sz="1200" dirty="0">
                          <a:effectLst/>
                        </a:rPr>
                        <a:t> xe</a:t>
                      </a:r>
                      <a:endParaRPr lang="vi-V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30000"/>
                        </a:lnSpc>
                      </a:pPr>
                      <a:r>
                        <a:rPr lang="vi-VN" sz="1200">
                          <a:effectLst/>
                        </a:rPr>
                        <a:t>Ghi nhận, lưu trữ và thay đổi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30000"/>
                        </a:lnSpc>
                      </a:pPr>
                      <a:r>
                        <a:rPr lang="vi-VN" sz="1200">
                          <a:effectLst/>
                        </a:rPr>
                        <a:t>Cập nhật danh sách các hiệu xe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extLst>
                  <a:ext uri="{0D108BD9-81ED-4DB2-BD59-A6C34878D82A}">
                    <a16:rowId xmlns:a16="http://schemas.microsoft.com/office/drawing/2014/main" val="2647292537"/>
                  </a:ext>
                </a:extLst>
              </a:tr>
              <a:tr h="902141">
                <a:tc>
                  <a:txBody>
                    <a:bodyPr/>
                    <a:lstStyle/>
                    <a:p>
                      <a:pPr marL="60960" algn="ctr"/>
                      <a:r>
                        <a:rPr lang="vi-VN" sz="1200">
                          <a:effectLst/>
                        </a:rPr>
                        <a:t>2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 anchor="ctr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30000"/>
                        </a:lnSpc>
                      </a:pPr>
                      <a:r>
                        <a:rPr lang="vi-VN" sz="1200" dirty="0">
                          <a:effectLst/>
                        </a:rPr>
                        <a:t>Thay </a:t>
                      </a:r>
                      <a:r>
                        <a:rPr lang="vi-VN" sz="1200" dirty="0" err="1">
                          <a:effectLst/>
                        </a:rPr>
                        <a:t>đổi</a:t>
                      </a:r>
                      <a:r>
                        <a:rPr lang="vi-VN" sz="1200" dirty="0">
                          <a:effectLst/>
                        </a:rPr>
                        <a:t> quy </a:t>
                      </a:r>
                      <a:r>
                        <a:rPr lang="vi-VN" sz="1200" dirty="0" err="1">
                          <a:effectLst/>
                        </a:rPr>
                        <a:t>định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về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lượng</a:t>
                      </a:r>
                      <a:r>
                        <a:rPr lang="vi-VN" sz="1200" dirty="0">
                          <a:effectLst/>
                        </a:rPr>
                        <a:t> xe </a:t>
                      </a:r>
                      <a:r>
                        <a:rPr lang="vi-VN" sz="1200" dirty="0" err="1">
                          <a:effectLst/>
                        </a:rPr>
                        <a:t>tiếp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nhận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sửa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chữa</a:t>
                      </a:r>
                      <a:r>
                        <a:rPr lang="vi-VN" sz="1200" dirty="0">
                          <a:effectLst/>
                        </a:rPr>
                        <a:t> trong </a:t>
                      </a:r>
                      <a:r>
                        <a:rPr lang="vi-VN" sz="1200" dirty="0" err="1">
                          <a:effectLst/>
                        </a:rPr>
                        <a:t>một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ngày</a:t>
                      </a:r>
                      <a:endParaRPr lang="vi-V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30000"/>
                        </a:lnSpc>
                      </a:pPr>
                      <a:r>
                        <a:rPr lang="vi-VN" sz="1200" dirty="0">
                          <a:effectLst/>
                        </a:rPr>
                        <a:t>Cho </a:t>
                      </a:r>
                      <a:r>
                        <a:rPr lang="vi-VN" sz="1200" dirty="0" err="1">
                          <a:effectLst/>
                        </a:rPr>
                        <a:t>biết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giá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trị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mới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về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số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lượng</a:t>
                      </a:r>
                      <a:r>
                        <a:rPr lang="vi-VN" sz="1200" dirty="0">
                          <a:effectLst/>
                        </a:rPr>
                        <a:t> xe </a:t>
                      </a:r>
                      <a:r>
                        <a:rPr lang="vi-VN" sz="1200" dirty="0" err="1">
                          <a:effectLst/>
                        </a:rPr>
                        <a:t>tiếp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nhận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sửa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chữa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sửa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chữa</a:t>
                      </a:r>
                      <a:r>
                        <a:rPr lang="vi-VN" sz="1200" dirty="0">
                          <a:effectLst/>
                        </a:rPr>
                        <a:t> trong </a:t>
                      </a:r>
                      <a:r>
                        <a:rPr lang="vi-VN" sz="1200" dirty="0" err="1">
                          <a:effectLst/>
                        </a:rPr>
                        <a:t>một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ngày</a:t>
                      </a:r>
                      <a:endParaRPr lang="vi-V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30000"/>
                        </a:lnSpc>
                      </a:pPr>
                      <a:r>
                        <a:rPr lang="vi-VN" sz="1200" dirty="0">
                          <a:effectLst/>
                        </a:rPr>
                        <a:t>Ghi </a:t>
                      </a:r>
                      <a:r>
                        <a:rPr lang="vi-VN" sz="1200" dirty="0" err="1">
                          <a:effectLst/>
                        </a:rPr>
                        <a:t>nhận</a:t>
                      </a:r>
                      <a:r>
                        <a:rPr lang="vi-VN" sz="1200" dirty="0">
                          <a:effectLst/>
                        </a:rPr>
                        <a:t>, lưu </a:t>
                      </a:r>
                      <a:r>
                        <a:rPr lang="vi-VN" sz="1200" dirty="0" err="1">
                          <a:effectLst/>
                        </a:rPr>
                        <a:t>trữ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và</a:t>
                      </a:r>
                      <a:r>
                        <a:rPr lang="vi-VN" sz="1200" dirty="0">
                          <a:effectLst/>
                        </a:rPr>
                        <a:t> thay </a:t>
                      </a:r>
                      <a:r>
                        <a:rPr lang="vi-VN" sz="1200" dirty="0" err="1">
                          <a:effectLst/>
                        </a:rPr>
                        <a:t>đổi</a:t>
                      </a:r>
                      <a:endParaRPr lang="vi-V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30000"/>
                        </a:lnSpc>
                      </a:pPr>
                      <a:r>
                        <a:rPr lang="vi-VN" sz="1200">
                          <a:effectLst/>
                        </a:rPr>
                        <a:t> 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extLst>
                  <a:ext uri="{0D108BD9-81ED-4DB2-BD59-A6C34878D82A}">
                    <a16:rowId xmlns:a16="http://schemas.microsoft.com/office/drawing/2014/main" val="316761582"/>
                  </a:ext>
                </a:extLst>
              </a:tr>
              <a:tr h="496691">
                <a:tc>
                  <a:txBody>
                    <a:bodyPr/>
                    <a:lstStyle/>
                    <a:p>
                      <a:pPr marL="67945" algn="ctr">
                        <a:lnSpc>
                          <a:spcPts val="1485"/>
                        </a:lnSpc>
                      </a:pPr>
                      <a:r>
                        <a:rPr lang="vi-VN" sz="1200">
                          <a:effectLst/>
                        </a:rPr>
                        <a:t>3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 anchor="ctr"/>
                </a:tc>
                <a:tc>
                  <a:txBody>
                    <a:bodyPr/>
                    <a:lstStyle/>
                    <a:p>
                      <a:pPr marL="81280" marR="95250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>
                          <a:effectLst/>
                        </a:rPr>
                        <a:t>Thay đổi quy định về số</a:t>
                      </a:r>
                    </a:p>
                    <a:p>
                      <a:pPr marL="81280">
                        <a:lnSpc>
                          <a:spcPct val="130000"/>
                        </a:lnSpc>
                      </a:pPr>
                      <a:r>
                        <a:rPr lang="vi-VN" sz="1200">
                          <a:effectLst/>
                        </a:rPr>
                        <a:t>loại phụ tùng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tc>
                  <a:txBody>
                    <a:bodyPr/>
                    <a:lstStyle/>
                    <a:p>
                      <a:pPr marL="81280" marR="5016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>
                          <a:effectLst/>
                        </a:rPr>
                        <a:t>Cho biết giá trị mới về số loại phụ tùng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30000"/>
                        </a:lnSpc>
                      </a:pPr>
                      <a:r>
                        <a:rPr lang="vi-VN" sz="1200">
                          <a:effectLst/>
                        </a:rPr>
                        <a:t>Ghi nhận, lưu trữ và thay đổi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30000"/>
                        </a:lnSpc>
                      </a:pPr>
                      <a:r>
                        <a:rPr lang="vi-VN" sz="1200" dirty="0" err="1">
                          <a:effectLst/>
                        </a:rPr>
                        <a:t>Cập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nhật</a:t>
                      </a:r>
                      <a:r>
                        <a:rPr lang="vi-VN" sz="1200" dirty="0">
                          <a:effectLst/>
                        </a:rPr>
                        <a:t> danh </a:t>
                      </a:r>
                      <a:r>
                        <a:rPr lang="vi-VN" sz="1200" dirty="0" err="1">
                          <a:effectLst/>
                        </a:rPr>
                        <a:t>sách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phụ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tùng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và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giá</a:t>
                      </a:r>
                      <a:endParaRPr lang="vi-VN" sz="1200" dirty="0">
                        <a:effectLst/>
                      </a:endParaRPr>
                    </a:p>
                    <a:p>
                      <a:pPr marL="82550">
                        <a:lnSpc>
                          <a:spcPct val="130000"/>
                        </a:lnSpc>
                      </a:pPr>
                      <a:r>
                        <a:rPr lang="vi-VN" sz="1200" dirty="0">
                          <a:effectLst/>
                        </a:rPr>
                        <a:t>niêm </a:t>
                      </a:r>
                      <a:r>
                        <a:rPr lang="vi-VN" sz="1200" dirty="0" err="1">
                          <a:effectLst/>
                        </a:rPr>
                        <a:t>yết</a:t>
                      </a:r>
                      <a:endParaRPr lang="vi-V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extLst>
                  <a:ext uri="{0D108BD9-81ED-4DB2-BD59-A6C34878D82A}">
                    <a16:rowId xmlns:a16="http://schemas.microsoft.com/office/drawing/2014/main" val="1062902266"/>
                  </a:ext>
                </a:extLst>
              </a:tr>
              <a:tr h="395329">
                <a:tc>
                  <a:txBody>
                    <a:bodyPr/>
                    <a:lstStyle/>
                    <a:p>
                      <a:pPr marL="67945" algn="ctr">
                        <a:lnSpc>
                          <a:spcPts val="1475"/>
                        </a:lnSpc>
                      </a:pPr>
                      <a:r>
                        <a:rPr lang="vi-VN" sz="1200">
                          <a:effectLst/>
                        </a:rPr>
                        <a:t>4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 anchor="ctr"/>
                </a:tc>
                <a:tc>
                  <a:txBody>
                    <a:bodyPr/>
                    <a:lstStyle/>
                    <a:p>
                      <a:pPr marL="81280" marR="95250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>
                          <a:effectLst/>
                        </a:rPr>
                        <a:t>Thay đổi quy định về số</a:t>
                      </a:r>
                    </a:p>
                    <a:p>
                      <a:pPr marL="81280">
                        <a:lnSpc>
                          <a:spcPct val="130000"/>
                        </a:lnSpc>
                      </a:pPr>
                      <a:r>
                        <a:rPr lang="vi-VN" sz="1200">
                          <a:effectLst/>
                        </a:rPr>
                        <a:t>loại tiền công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tc>
                  <a:txBody>
                    <a:bodyPr/>
                    <a:lstStyle/>
                    <a:p>
                      <a:pPr marL="81280" marR="5016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>
                          <a:effectLst/>
                        </a:rPr>
                        <a:t>Cho biết giá trị mới về số loại tiền công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30000"/>
                        </a:lnSpc>
                      </a:pPr>
                      <a:r>
                        <a:rPr lang="vi-VN" sz="1200">
                          <a:effectLst/>
                        </a:rPr>
                        <a:t>Ghi nhận, lưu trữ và thay đổi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30000"/>
                        </a:lnSpc>
                      </a:pPr>
                      <a:r>
                        <a:rPr lang="vi-VN" sz="1200" dirty="0" err="1">
                          <a:effectLst/>
                        </a:rPr>
                        <a:t>Cập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nhật</a:t>
                      </a:r>
                      <a:r>
                        <a:rPr lang="vi-VN" sz="1200" dirty="0">
                          <a:effectLst/>
                        </a:rPr>
                        <a:t> danh </a:t>
                      </a:r>
                      <a:r>
                        <a:rPr lang="vi-VN" sz="1200" dirty="0" err="1">
                          <a:effectLst/>
                        </a:rPr>
                        <a:t>sách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tiền</a:t>
                      </a:r>
                      <a:r>
                        <a:rPr lang="vi-VN" sz="1200" dirty="0">
                          <a:effectLst/>
                        </a:rPr>
                        <a:t> công</a:t>
                      </a:r>
                      <a:endParaRPr lang="vi-V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extLst>
                  <a:ext uri="{0D108BD9-81ED-4DB2-BD59-A6C34878D82A}">
                    <a16:rowId xmlns:a16="http://schemas.microsoft.com/office/drawing/2014/main" val="3159628222"/>
                  </a:ext>
                </a:extLst>
              </a:tr>
              <a:tr h="800779">
                <a:tc>
                  <a:txBody>
                    <a:bodyPr/>
                    <a:lstStyle/>
                    <a:p>
                      <a:pPr marL="67945" algn="ctr">
                        <a:lnSpc>
                          <a:spcPts val="1485"/>
                        </a:lnSpc>
                      </a:pPr>
                      <a:r>
                        <a:rPr lang="vi-VN" sz="1200">
                          <a:effectLst/>
                        </a:rPr>
                        <a:t>5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 anchor="ctr"/>
                </a:tc>
                <a:tc>
                  <a:txBody>
                    <a:bodyPr/>
                    <a:lstStyle/>
                    <a:p>
                      <a:pPr marL="81280" marR="6794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>
                          <a:effectLst/>
                        </a:rPr>
                        <a:t>Yêu cầu phân quyền người dùng.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tc>
                  <a:txBody>
                    <a:bodyPr/>
                    <a:lstStyle/>
                    <a:p>
                      <a:pPr marL="81280" marR="4127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>
                          <a:effectLst/>
                        </a:rPr>
                        <a:t>Cho biết giá trị của tài khoản mới và thông tin quyền của</a:t>
                      </a:r>
                    </a:p>
                    <a:p>
                      <a:pPr marL="81280">
                        <a:lnSpc>
                          <a:spcPct val="130000"/>
                        </a:lnSpc>
                      </a:pPr>
                      <a:r>
                        <a:rPr lang="vi-VN" sz="1200">
                          <a:effectLst/>
                        </a:rPr>
                        <a:t>tài khoản đó.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30000"/>
                        </a:lnSpc>
                      </a:pPr>
                      <a:r>
                        <a:rPr lang="vi-VN" sz="1200">
                          <a:effectLst/>
                        </a:rPr>
                        <a:t>Ghi nhận, lưu trữ và thay đổi</a:t>
                      </a:r>
                      <a:endParaRPr lang="vi-V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tc>
                  <a:txBody>
                    <a:bodyPr/>
                    <a:lstStyle/>
                    <a:p>
                      <a:pPr marL="82550" marR="112395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200" dirty="0" err="1">
                          <a:effectLst/>
                        </a:rPr>
                        <a:t>Cập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nhật</a:t>
                      </a:r>
                      <a:r>
                        <a:rPr lang="vi-VN" sz="1200" dirty="0">
                          <a:effectLst/>
                        </a:rPr>
                        <a:t> thông tin </a:t>
                      </a:r>
                      <a:r>
                        <a:rPr lang="vi-VN" sz="1200" dirty="0" err="1">
                          <a:effectLst/>
                        </a:rPr>
                        <a:t>tài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khoản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và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quyền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của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tài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khoản</a:t>
                      </a:r>
                      <a:r>
                        <a:rPr lang="vi-VN" sz="1200" dirty="0">
                          <a:effectLst/>
                        </a:rPr>
                        <a:t> </a:t>
                      </a:r>
                      <a:r>
                        <a:rPr lang="vi-VN" sz="1200" dirty="0" err="1">
                          <a:effectLst/>
                        </a:rPr>
                        <a:t>đó</a:t>
                      </a:r>
                      <a:r>
                        <a:rPr lang="vi-VN" sz="1200" dirty="0">
                          <a:effectLst/>
                        </a:rPr>
                        <a:t>.</a:t>
                      </a:r>
                      <a:endParaRPr lang="vi-V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990" marR="26990" marT="0" marB="0"/>
                </a:tc>
                <a:extLst>
                  <a:ext uri="{0D108BD9-81ED-4DB2-BD59-A6C34878D82A}">
                    <a16:rowId xmlns:a16="http://schemas.microsoft.com/office/drawing/2014/main" val="1637184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302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7553A119-15AE-A910-6348-5F82F6DE292C}"/>
              </a:ext>
            </a:extLst>
          </p:cNvPr>
          <p:cNvSpPr/>
          <p:nvPr/>
        </p:nvSpPr>
        <p:spPr>
          <a:xfrm>
            <a:off x="1" y="826521"/>
            <a:ext cx="9143999" cy="37566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0799CDE8-C483-B7AC-6B76-C63E8AA08356}"/>
              </a:ext>
            </a:extLst>
          </p:cNvPr>
          <p:cNvSpPr txBox="1"/>
          <p:nvPr/>
        </p:nvSpPr>
        <p:spPr>
          <a:xfrm>
            <a:off x="386344" y="327858"/>
            <a:ext cx="8301956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fontAlgn="base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</a:pPr>
            <a:r>
              <a:rPr lang="vi-VN" sz="20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CHƯƠNG</a:t>
            </a:r>
            <a:r>
              <a:rPr lang="vi-VN" sz="20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 3: PHÂN TÍCH YÊU CẦU HỆ THỐNG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17C3FB29-C7A5-AFFC-1EAA-FC55CB5CC506}"/>
              </a:ext>
            </a:extLst>
          </p:cNvPr>
          <p:cNvSpPr txBox="1"/>
          <p:nvPr/>
        </p:nvSpPr>
        <p:spPr>
          <a:xfrm>
            <a:off x="386343" y="826521"/>
            <a:ext cx="8099288" cy="30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lvl="2" indent="-228600" algn="just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300"/>
              <a:buFont typeface="+mj-lt"/>
              <a:buAutoNum type="arabicPeriod"/>
            </a:pPr>
            <a:r>
              <a:rPr lang="en-US" sz="1400" b="1" u="none" strike="noStrike" kern="0" spc="0" dirty="0" err="1">
                <a:ln>
                  <a:noFill/>
                </a:ln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Kiến</a:t>
            </a:r>
            <a:r>
              <a:rPr lang="en-US" sz="1400" b="1" u="none" strike="noStrike" kern="0" spc="0" dirty="0">
                <a:ln>
                  <a:noFill/>
                </a:ln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400" b="1" u="none" strike="noStrike" kern="0" spc="0" dirty="0" err="1">
                <a:ln>
                  <a:noFill/>
                </a:ln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trúc</a:t>
            </a:r>
            <a:r>
              <a:rPr lang="en-US" sz="1400" b="1" u="none" strike="noStrike" kern="0" spc="0" dirty="0">
                <a:ln>
                  <a:noFill/>
                </a:ln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400" b="1" u="none" strike="noStrike" kern="0" spc="0" dirty="0" err="1">
                <a:ln>
                  <a:noFill/>
                </a:ln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hệ</a:t>
            </a:r>
            <a:r>
              <a:rPr lang="en-US" sz="1400" b="1" u="none" strike="noStrike" kern="0" spc="-15" dirty="0">
                <a:ln>
                  <a:noFill/>
                </a:ln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400" b="1" u="none" strike="noStrike" kern="0" spc="0" dirty="0" err="1">
                <a:ln>
                  <a:noFill/>
                </a:ln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thống</a:t>
            </a:r>
            <a:endParaRPr lang="en-US" sz="1400" b="1" u="none" strike="noStrike" kern="0" spc="0" dirty="0">
              <a:ln>
                <a:noFill/>
              </a:ln>
              <a:solidFill>
                <a:srgbClr val="0D0D0D"/>
              </a:solidFill>
              <a:effectLst>
                <a:glow>
                  <a:srgbClr val="000000"/>
                </a:glow>
                <a:outerShdw sx="0" sy="0">
                  <a:srgbClr val="000000"/>
                </a:outerShdw>
                <a:reflection stA="0" endPos="0" fadeDir="0" sx="0" sy="0"/>
              </a:effectLst>
              <a:latin typeface="+mj-lt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Xác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định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phần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mềm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sử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dụng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nền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tảng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framework WPF (Windows Presentation Foundation).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Bằng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các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kiến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thức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đã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học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,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nhóm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đã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quyết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định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áp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dụng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mô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hình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kiến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trúc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MVVM (Model – View –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ViewModel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)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làm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mô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hình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nền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tảng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xây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dựng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phần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+mj-lt"/>
                <a:ea typeface="Times New Roman" panose="02020603050405020304" pitchFamily="18" charset="0"/>
              </a:rPr>
              <a:t>mềm</a:t>
            </a:r>
            <a:r>
              <a:rPr lang="en-US" sz="1300" dirty="0">
                <a:effectLst/>
                <a:latin typeface="+mj-lt"/>
                <a:ea typeface="Times New Roman" panose="02020603050405020304" pitchFamily="18" charset="0"/>
              </a:rPr>
              <a:t>.</a:t>
            </a:r>
          </a:p>
          <a:p>
            <a:pPr marL="1257300" lvl="2" indent="-342900" algn="just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300"/>
              <a:buFont typeface="+mj-lt"/>
              <a:buAutoNum type="arabicPeriod" startAt="2"/>
            </a:pPr>
            <a:r>
              <a:rPr lang="vi-VN" b="1" dirty="0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Mô </a:t>
            </a:r>
            <a:r>
              <a:rPr lang="vi-VN" b="1" dirty="0" err="1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tả</a:t>
            </a:r>
            <a:r>
              <a:rPr lang="vi-VN" b="1" dirty="0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b="1" dirty="0" err="1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các</a:t>
            </a:r>
            <a:r>
              <a:rPr lang="vi-VN" b="1" dirty="0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b="1" dirty="0" err="1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thành</a:t>
            </a:r>
            <a:r>
              <a:rPr lang="vi-VN" b="1" dirty="0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b="1" dirty="0" err="1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phần</a:t>
            </a:r>
            <a:r>
              <a:rPr lang="vi-VN" b="1" dirty="0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 trong </a:t>
            </a:r>
            <a:r>
              <a:rPr lang="vi-VN" b="1" dirty="0" err="1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hệ</a:t>
            </a:r>
            <a:r>
              <a:rPr lang="vi-VN" b="1" dirty="0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b="1" dirty="0" err="1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thống</a:t>
            </a:r>
            <a:endParaRPr lang="vi-VN" b="1" dirty="0">
              <a:solidFill>
                <a:srgbClr val="0D0D0D"/>
              </a:solidFill>
              <a:effectLst>
                <a:glow>
                  <a:srgbClr val="000000"/>
                </a:glow>
                <a:outerShdw sx="0" sy="0">
                  <a:srgbClr val="000000"/>
                </a:outerShdw>
                <a:reflection stA="0" endPos="0" fadeDir="0" sx="0" sy="0"/>
              </a:effectLst>
              <a:latin typeface="+mj-lt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 marL="1257300" lvl="2" indent="-342900" algn="just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300"/>
              <a:buFont typeface="+mj-lt"/>
              <a:buAutoNum type="arabicPeriod" startAt="2"/>
            </a:pPr>
            <a:endParaRPr lang="vi-VN" b="1" dirty="0">
              <a:solidFill>
                <a:srgbClr val="0D0D0D"/>
              </a:solidFill>
              <a:effectLst>
                <a:glow>
                  <a:srgbClr val="000000"/>
                </a:glow>
                <a:outerShdw sx="0" sy="0">
                  <a:srgbClr val="000000"/>
                </a:outerShdw>
                <a:reflection stA="0" endPos="0" fadeDir="0" sx="0" sy="0"/>
              </a:effectLst>
              <a:latin typeface="+mj-lt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</a:pPr>
            <a:endParaRPr lang="vi-V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0" lvl="2" indent="-228600" algn="l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300"/>
              <a:buFont typeface="+mj-lt"/>
              <a:buAutoNum type="arabicPeriod"/>
            </a:pPr>
            <a:endParaRPr lang="vi-VN" sz="1400" dirty="0">
              <a:effectLst/>
              <a:latin typeface="Times New Roman" panose="02020603050405020304" pitchFamily="18" charset="0"/>
              <a:ea typeface="DejaVu Sans"/>
              <a:cs typeface="DejaVu Sans"/>
            </a:endParaRPr>
          </a:p>
        </p:txBody>
      </p:sp>
      <p:graphicFrame>
        <p:nvGraphicFramePr>
          <p:cNvPr id="2" name="Bảng 1">
            <a:extLst>
              <a:ext uri="{FF2B5EF4-FFF2-40B4-BE49-F238E27FC236}">
                <a16:creationId xmlns:a16="http://schemas.microsoft.com/office/drawing/2014/main" id="{BB509A80-8C89-E890-FE51-6B360E322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331763"/>
              </p:ext>
            </p:extLst>
          </p:nvPr>
        </p:nvGraphicFramePr>
        <p:xfrm>
          <a:off x="117088" y="2608056"/>
          <a:ext cx="8909823" cy="186358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{2146DF28-2150-43F1-838E-3EFDFE06A0C1}</a:tableStyleId>
              </a:tblPr>
              <a:tblGrid>
                <a:gridCol w="1340597">
                  <a:extLst>
                    <a:ext uri="{9D8B030D-6E8A-4147-A177-3AD203B41FA5}">
                      <a16:colId xmlns:a16="http://schemas.microsoft.com/office/drawing/2014/main" val="2021582330"/>
                    </a:ext>
                  </a:extLst>
                </a:gridCol>
                <a:gridCol w="2309954">
                  <a:extLst>
                    <a:ext uri="{9D8B030D-6E8A-4147-A177-3AD203B41FA5}">
                      <a16:colId xmlns:a16="http://schemas.microsoft.com/office/drawing/2014/main" val="6907975"/>
                    </a:ext>
                  </a:extLst>
                </a:gridCol>
                <a:gridCol w="5259272">
                  <a:extLst>
                    <a:ext uri="{9D8B030D-6E8A-4147-A177-3AD203B41FA5}">
                      <a16:colId xmlns:a16="http://schemas.microsoft.com/office/drawing/2014/main" val="1872850175"/>
                    </a:ext>
                  </a:extLst>
                </a:gridCol>
              </a:tblGrid>
              <a:tr h="320676">
                <a:tc>
                  <a:txBody>
                    <a:bodyPr/>
                    <a:lstStyle/>
                    <a:p>
                      <a:pPr marL="13970" marR="100330" indent="-45720" algn="ctr">
                        <a:lnSpc>
                          <a:spcPct val="105000"/>
                        </a:lnSpc>
                        <a:spcAft>
                          <a:spcPts val="0"/>
                        </a:spcAft>
                        <a:tabLst>
                          <a:tab pos="623570" algn="l"/>
                        </a:tabLst>
                      </a:pPr>
                      <a:r>
                        <a:rPr lang="vi-VN" sz="1400" dirty="0">
                          <a:effectLst/>
                        </a:rPr>
                        <a:t>STT</a:t>
                      </a:r>
                      <a:endParaRPr lang="vi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0960" algn="ctr">
                        <a:lnSpc>
                          <a:spcPts val="1485"/>
                        </a:lnSpc>
                      </a:pPr>
                      <a:r>
                        <a:rPr lang="vi-VN" sz="1400" dirty="0" err="1">
                          <a:effectLst/>
                        </a:rPr>
                        <a:t>Thành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phần</a:t>
                      </a:r>
                      <a:endParaRPr lang="vi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0960" marR="25400" algn="ctr">
                        <a:lnSpc>
                          <a:spcPts val="1485"/>
                        </a:lnSpc>
                        <a:spcAft>
                          <a:spcPts val="0"/>
                        </a:spcAft>
                      </a:pPr>
                      <a:r>
                        <a:rPr lang="vi-VN" sz="1400">
                          <a:effectLst/>
                        </a:rPr>
                        <a:t>Diễn giải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34992063"/>
                  </a:ext>
                </a:extLst>
              </a:tr>
              <a:tr h="304200">
                <a:tc>
                  <a:txBody>
                    <a:bodyPr/>
                    <a:lstStyle/>
                    <a:p>
                      <a:pPr marL="60960" marR="171450" algn="ctr">
                        <a:lnSpc>
                          <a:spcPts val="1475"/>
                        </a:lnSpc>
                        <a:spcAft>
                          <a:spcPts val="0"/>
                        </a:spcAft>
                      </a:pPr>
                      <a:r>
                        <a:rPr lang="vi-VN" sz="1400">
                          <a:effectLst/>
                        </a:rPr>
                        <a:t>1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" algn="just">
                        <a:lnSpc>
                          <a:spcPct val="130000"/>
                        </a:lnSpc>
                      </a:pPr>
                      <a:r>
                        <a:rPr lang="vi-VN" sz="1400" dirty="0" err="1">
                          <a:effectLst/>
                        </a:rPr>
                        <a:t>View</a:t>
                      </a:r>
                      <a:endParaRPr lang="vi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lnSpc>
                          <a:spcPct val="130000"/>
                        </a:lnSpc>
                      </a:pPr>
                      <a:r>
                        <a:rPr lang="vi-VN" sz="1400" dirty="0" err="1">
                          <a:effectLst/>
                        </a:rPr>
                        <a:t>Đảm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nhận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hiển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thị</a:t>
                      </a:r>
                      <a:r>
                        <a:rPr lang="vi-VN" sz="1400" dirty="0">
                          <a:effectLst/>
                        </a:rPr>
                        <a:t> thông tin ra </a:t>
                      </a:r>
                      <a:r>
                        <a:rPr lang="vi-VN" sz="1400" dirty="0" err="1">
                          <a:effectLst/>
                        </a:rPr>
                        <a:t>thiết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bị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phát</a:t>
                      </a:r>
                      <a:r>
                        <a:rPr lang="vi-VN" sz="1400" dirty="0">
                          <a:effectLst/>
                        </a:rPr>
                        <a:t>.</a:t>
                      </a:r>
                      <a:endParaRPr lang="vi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7075847"/>
                  </a:ext>
                </a:extLst>
              </a:tr>
              <a:tr h="572050">
                <a:tc>
                  <a:txBody>
                    <a:bodyPr/>
                    <a:lstStyle/>
                    <a:p>
                      <a:pPr marL="60960" marR="171450" algn="ctr">
                        <a:lnSpc>
                          <a:spcPts val="1485"/>
                        </a:lnSpc>
                        <a:spcAft>
                          <a:spcPts val="0"/>
                        </a:spcAft>
                      </a:pPr>
                      <a:r>
                        <a:rPr lang="vi-VN" sz="1400">
                          <a:effectLst/>
                        </a:rPr>
                        <a:t>2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" algn="just">
                        <a:lnSpc>
                          <a:spcPct val="130000"/>
                        </a:lnSpc>
                      </a:pPr>
                      <a:r>
                        <a:rPr lang="vi-VN" sz="1400">
                          <a:effectLst/>
                        </a:rPr>
                        <a:t>ViewModel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marR="33655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400" dirty="0" err="1">
                          <a:effectLst/>
                        </a:rPr>
                        <a:t>Tiếp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nhận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các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phản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hồi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người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dùng</a:t>
                      </a:r>
                      <a:r>
                        <a:rPr lang="vi-VN" sz="1400" dirty="0">
                          <a:effectLst/>
                        </a:rPr>
                        <a:t> thông qua </a:t>
                      </a:r>
                      <a:r>
                        <a:rPr lang="vi-VN" sz="1400" dirty="0" err="1">
                          <a:effectLst/>
                        </a:rPr>
                        <a:t>View</a:t>
                      </a:r>
                      <a:r>
                        <a:rPr lang="vi-VN" sz="1400" dirty="0">
                          <a:effectLst/>
                        </a:rPr>
                        <a:t>, </a:t>
                      </a:r>
                      <a:r>
                        <a:rPr lang="vi-VN" sz="1400" dirty="0" err="1">
                          <a:effectLst/>
                        </a:rPr>
                        <a:t>xử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lí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và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gửi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đến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Model</a:t>
                      </a:r>
                      <a:r>
                        <a:rPr lang="vi-VN" sz="1400" dirty="0">
                          <a:effectLst/>
                        </a:rPr>
                        <a:t>.</a:t>
                      </a:r>
                      <a:endParaRPr lang="vi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8621960"/>
                  </a:ext>
                </a:extLst>
              </a:tr>
              <a:tr h="666657">
                <a:tc>
                  <a:txBody>
                    <a:bodyPr/>
                    <a:lstStyle/>
                    <a:p>
                      <a:pPr marL="60960" marR="171450" algn="ctr">
                        <a:lnSpc>
                          <a:spcPts val="1475"/>
                        </a:lnSpc>
                        <a:spcAft>
                          <a:spcPts val="0"/>
                        </a:spcAft>
                      </a:pPr>
                      <a:r>
                        <a:rPr lang="vi-VN" sz="1400">
                          <a:effectLst/>
                        </a:rPr>
                        <a:t>3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8580" algn="just">
                        <a:lnSpc>
                          <a:spcPct val="130000"/>
                        </a:lnSpc>
                      </a:pPr>
                      <a:r>
                        <a:rPr lang="vi-VN" sz="1400" dirty="0" err="1">
                          <a:effectLst/>
                        </a:rPr>
                        <a:t>Model</a:t>
                      </a:r>
                      <a:endParaRPr lang="vi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8580" algn="just">
                        <a:lnSpc>
                          <a:spcPct val="130000"/>
                        </a:lnSpc>
                      </a:pPr>
                      <a:r>
                        <a:rPr lang="vi-VN" sz="1400" dirty="0" err="1">
                          <a:effectLst/>
                        </a:rPr>
                        <a:t>Đại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diện</a:t>
                      </a:r>
                      <a:r>
                        <a:rPr lang="vi-VN" sz="1400" dirty="0">
                          <a:effectLst/>
                        </a:rPr>
                        <a:t> cho cơ </a:t>
                      </a:r>
                      <a:r>
                        <a:rPr lang="vi-VN" sz="1400" dirty="0" err="1">
                          <a:effectLst/>
                        </a:rPr>
                        <a:t>sở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dữ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liệu</a:t>
                      </a:r>
                      <a:r>
                        <a:rPr lang="vi-VN" sz="1400" dirty="0">
                          <a:effectLst/>
                        </a:rPr>
                        <a:t>, </a:t>
                      </a:r>
                      <a:r>
                        <a:rPr lang="vi-VN" sz="1400" dirty="0" err="1">
                          <a:effectLst/>
                        </a:rPr>
                        <a:t>trả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các</a:t>
                      </a:r>
                      <a:r>
                        <a:rPr lang="vi-VN" sz="1400" dirty="0">
                          <a:effectLst/>
                        </a:rPr>
                        <a:t> thông tin yêu </a:t>
                      </a:r>
                      <a:r>
                        <a:rPr lang="vi-VN" sz="1400" dirty="0" err="1">
                          <a:effectLst/>
                        </a:rPr>
                        <a:t>cầu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từ</a:t>
                      </a:r>
                      <a:r>
                        <a:rPr lang="vi-VN" sz="1400" dirty="0">
                          <a:effectLst/>
                        </a:rPr>
                        <a:t> cơ </a:t>
                      </a:r>
                      <a:r>
                        <a:rPr lang="vi-VN" sz="1400" dirty="0" err="1">
                          <a:effectLst/>
                        </a:rPr>
                        <a:t>sở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dữ</a:t>
                      </a:r>
                      <a:r>
                        <a:rPr lang="vi-VN" sz="1400" dirty="0">
                          <a:effectLst/>
                        </a:rPr>
                        <a:t> </a:t>
                      </a:r>
                      <a:r>
                        <a:rPr lang="vi-VN" sz="1400" dirty="0" err="1">
                          <a:effectLst/>
                        </a:rPr>
                        <a:t>liệu</a:t>
                      </a:r>
                      <a:r>
                        <a:rPr lang="vi-VN" sz="1400" dirty="0">
                          <a:effectLst/>
                        </a:rPr>
                        <a:t> cho </a:t>
                      </a:r>
                      <a:r>
                        <a:rPr lang="vi-VN" sz="1400" dirty="0" err="1">
                          <a:effectLst/>
                        </a:rPr>
                        <a:t>ViewModel</a:t>
                      </a:r>
                      <a:r>
                        <a:rPr lang="vi-VN" sz="1400" dirty="0">
                          <a:effectLst/>
                        </a:rPr>
                        <a:t>.</a:t>
                      </a:r>
                      <a:endParaRPr lang="vi-V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388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03126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7553A119-15AE-A910-6348-5F82F6DE292C}"/>
              </a:ext>
            </a:extLst>
          </p:cNvPr>
          <p:cNvSpPr/>
          <p:nvPr/>
        </p:nvSpPr>
        <p:spPr>
          <a:xfrm>
            <a:off x="1" y="439190"/>
            <a:ext cx="9143999" cy="44159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0799CDE8-C483-B7AC-6B76-C63E8AA08356}"/>
              </a:ext>
            </a:extLst>
          </p:cNvPr>
          <p:cNvSpPr txBox="1"/>
          <p:nvPr/>
        </p:nvSpPr>
        <p:spPr>
          <a:xfrm>
            <a:off x="312003" y="0"/>
            <a:ext cx="8301956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fontAlgn="base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</a:pPr>
            <a:r>
              <a:rPr lang="vi-VN" sz="2000" b="1" dirty="0"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SƠ ĐỒ USECASE</a:t>
            </a:r>
            <a:endParaRPr lang="vi-VN" sz="2000" b="1" u="none" strike="noStrike" kern="0" spc="0" dirty="0">
              <a:ln>
                <a:noFill/>
              </a:ln>
              <a:effectLst>
                <a:glow>
                  <a:srgbClr val="000000"/>
                </a:glow>
                <a:outerShdw sx="0" sy="0">
                  <a:srgbClr val="000000"/>
                </a:outerShdw>
                <a:reflection stA="0" endPos="0" fadeDir="0" sx="0" sy="0"/>
              </a:effectLst>
              <a:latin typeface="Times New Roman" panose="02020603050405020304" pitchFamily="18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7FBF04E1-484C-6728-61ED-B36AFCD57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064" y="439190"/>
            <a:ext cx="5493834" cy="441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699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E0BE7DC1-FAB2-A7FE-8A69-F4CA80438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42" y="1392488"/>
            <a:ext cx="1623900" cy="3864000"/>
          </a:xfrm>
        </p:spPr>
        <p:txBody>
          <a:bodyPr/>
          <a:lstStyle/>
          <a:p>
            <a:r>
              <a:rPr lang="vi-VN" sz="2600" b="0" i="1" u="none" strike="noStrike" kern="0" spc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Yêu </a:t>
            </a:r>
            <a:r>
              <a:rPr lang="vi-VN" sz="2600" b="0" i="1" u="none" strike="noStrike" kern="0" spc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cầu</a:t>
            </a:r>
            <a:r>
              <a:rPr lang="vi-VN" sz="2600" b="0" i="1" u="none" strike="noStrike" kern="0" spc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1: </a:t>
            </a:r>
            <a:r>
              <a:rPr lang="vi-VN" sz="2600" b="0" i="1" u="none" strike="noStrike" kern="0" spc="-2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Tiếp</a:t>
            </a:r>
            <a:r>
              <a:rPr lang="vi-VN" sz="2600" b="0" i="1" u="none" strike="noStrike" kern="0" spc="-2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600" b="0" i="1" u="none" strike="noStrike" kern="0" spc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nhận</a:t>
            </a:r>
            <a:r>
              <a:rPr lang="vi-VN" sz="2600" b="0" i="1" u="none" strike="noStrike" kern="0" spc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600" b="0" i="1" u="none" strike="noStrike" kern="0" spc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bảo</a:t>
            </a:r>
            <a:r>
              <a:rPr lang="vi-VN" sz="2600" b="0" i="1" u="none" strike="noStrike" kern="0" spc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600" b="0" i="1" u="none" strike="noStrike" kern="0" spc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trì</a:t>
            </a:r>
            <a:r>
              <a:rPr lang="vi-VN" sz="2600" b="0" i="1" u="none" strike="noStrike" kern="0" spc="-15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2600" b="0" i="1" u="none" strike="noStrike" kern="0" spc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xe</a:t>
            </a:r>
            <a:br>
              <a:rPr lang="vi-VN" sz="18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endParaRPr lang="vi-VN" dirty="0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44AFF3EE-D447-E7FC-A78D-B58C1B67A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478" y="1272654"/>
            <a:ext cx="6777381" cy="3415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E0BE7DC1-FAB2-A7FE-8A69-F4CA80438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095" y="1626664"/>
            <a:ext cx="1623900" cy="3864000"/>
          </a:xfrm>
        </p:spPr>
        <p:txBody>
          <a:bodyPr/>
          <a:lstStyle/>
          <a:p>
            <a:r>
              <a:rPr lang="vi-VN" sz="2600" i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Yêu </a:t>
            </a:r>
            <a:r>
              <a:rPr lang="vi-VN" sz="2600" i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cầu</a:t>
            </a:r>
            <a:r>
              <a:rPr lang="vi-VN" sz="2600" i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2: </a:t>
            </a:r>
            <a:r>
              <a:rPr lang="vi-VN" sz="2600" i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Lập</a:t>
            </a:r>
            <a:r>
              <a:rPr lang="vi-VN" sz="2600" i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2600" i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phiếu</a:t>
            </a:r>
            <a:r>
              <a:rPr lang="vi-VN" sz="2600" i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2600" i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sửa</a:t>
            </a:r>
            <a:r>
              <a:rPr lang="vi-VN" sz="2600" i="1" spc="-45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2600" i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chữa</a:t>
            </a:r>
            <a:br>
              <a:rPr lang="vi-VN" sz="18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endParaRPr lang="vi-VN" dirty="0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8A07400F-8540-AF74-0C16-1BD774BF7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006" y="0"/>
            <a:ext cx="49236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732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E0BE7DC1-FAB2-A7FE-8A69-F4CA80438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095" y="1626664"/>
            <a:ext cx="1623900" cy="3864000"/>
          </a:xfrm>
        </p:spPr>
        <p:txBody>
          <a:bodyPr/>
          <a:lstStyle/>
          <a:p>
            <a:r>
              <a:rPr lang="vi-VN" sz="2600" i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Yêu </a:t>
            </a:r>
            <a:r>
              <a:rPr lang="vi-VN" sz="2600" i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cầu</a:t>
            </a:r>
            <a:r>
              <a:rPr lang="vi-VN" sz="2600" i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3: Tra </a:t>
            </a:r>
            <a:r>
              <a:rPr lang="vi-VN" sz="2600" i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cứu</a:t>
            </a:r>
            <a:r>
              <a:rPr lang="vi-VN" sz="2600" i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xe</a:t>
            </a:r>
            <a:br>
              <a:rPr lang="vi-VN" sz="18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endParaRPr lang="vi-VN" dirty="0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B9E7A70A-D559-7AAF-F80B-9920C6714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322" y="-50"/>
            <a:ext cx="501610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3931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E0BE7DC1-FAB2-A7FE-8A69-F4CA80438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095" y="1626664"/>
            <a:ext cx="1623900" cy="3864000"/>
          </a:xfrm>
        </p:spPr>
        <p:txBody>
          <a:bodyPr/>
          <a:lstStyle/>
          <a:p>
            <a:r>
              <a:rPr lang="vi-VN" sz="2600" i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Yêu </a:t>
            </a:r>
            <a:r>
              <a:rPr lang="vi-VN" sz="2600" i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cầu</a:t>
            </a:r>
            <a:r>
              <a:rPr lang="vi-VN" sz="2600" i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4: </a:t>
            </a:r>
            <a:r>
              <a:rPr lang="vi-VN" sz="2600" i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Lập</a:t>
            </a:r>
            <a:r>
              <a:rPr lang="vi-VN" sz="2600" i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2600" i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phiếu</a:t>
            </a:r>
            <a:r>
              <a:rPr lang="vi-VN" sz="2600" i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thu </a:t>
            </a:r>
            <a:r>
              <a:rPr lang="vi-VN" sz="2600" i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tiền</a:t>
            </a:r>
            <a:br>
              <a:rPr lang="vi-VN" sz="18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endParaRPr lang="vi-VN" dirty="0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B3E135C7-3219-5B5C-8205-11268DF9F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424" y="-50"/>
            <a:ext cx="490408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3609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E0BE7DC1-FAB2-A7FE-8A69-F4CA80438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095" y="1626664"/>
            <a:ext cx="1623900" cy="3864000"/>
          </a:xfrm>
        </p:spPr>
        <p:txBody>
          <a:bodyPr/>
          <a:lstStyle/>
          <a:p>
            <a:r>
              <a:rPr lang="vi-VN" sz="2600" i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Yêu </a:t>
            </a:r>
            <a:r>
              <a:rPr lang="vi-VN" sz="2600" i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cầu</a:t>
            </a:r>
            <a:r>
              <a:rPr lang="vi-VN" sz="2600" i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5: </a:t>
            </a:r>
            <a:r>
              <a:rPr lang="vi-VN" sz="2600" i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Lập</a:t>
            </a:r>
            <a:r>
              <a:rPr lang="vi-VN" sz="2600" i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2600" i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báo</a:t>
            </a:r>
            <a:r>
              <a:rPr lang="vi-VN" sz="2600" i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2600" i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cáo</a:t>
            </a:r>
            <a:r>
              <a:rPr lang="vi-VN" sz="2600" i="1" dirty="0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2600" i="1" dirty="0" err="1">
                <a:solidFill>
                  <a:schemeClr val="tx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tháng</a:t>
            </a:r>
            <a:br>
              <a:rPr lang="vi-VN" sz="18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endParaRPr lang="vi-VN" dirty="0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20687819-37F4-9369-D6AA-B2422FE88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991" y="0"/>
            <a:ext cx="561426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4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"/>
          <p:cNvSpPr txBox="1">
            <a:spLocks noGrp="1"/>
          </p:cNvSpPr>
          <p:nvPr>
            <p:ph type="ctrTitle" idx="4294967295"/>
          </p:nvPr>
        </p:nvSpPr>
        <p:spPr>
          <a:xfrm>
            <a:off x="443847" y="1989864"/>
            <a:ext cx="1977109" cy="164125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000" dirty="0"/>
              <a:t>Sơ </a:t>
            </a:r>
            <a:r>
              <a:rPr lang="vi-VN" sz="3000" dirty="0" err="1"/>
              <a:t>đồ</a:t>
            </a:r>
            <a:r>
              <a:rPr lang="vi-VN" sz="3000" dirty="0"/>
              <a:t> </a:t>
            </a:r>
            <a:r>
              <a:rPr lang="vi-VN" sz="3000" dirty="0" err="1"/>
              <a:t>logic</a:t>
            </a:r>
            <a:r>
              <a:rPr lang="vi-VN" sz="3000" dirty="0"/>
              <a:t> hoan </a:t>
            </a:r>
            <a:r>
              <a:rPr lang="vi-VN" sz="3000" dirty="0" err="1">
                <a:latin typeface="+mn-lt"/>
              </a:rPr>
              <a:t>chỉnh</a:t>
            </a:r>
            <a:endParaRPr sz="3000" dirty="0">
              <a:latin typeface="+mn-lt"/>
            </a:endParaRPr>
          </a:p>
        </p:txBody>
      </p:sp>
      <p:sp>
        <p:nvSpPr>
          <p:cNvPr id="297" name="Google Shape;297;p28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1898FB38-768C-444F-BA58-D0A5CB989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268" y="0"/>
            <a:ext cx="478792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7553A119-15AE-A910-6348-5F82F6DE292C}"/>
              </a:ext>
            </a:extLst>
          </p:cNvPr>
          <p:cNvSpPr/>
          <p:nvPr/>
        </p:nvSpPr>
        <p:spPr>
          <a:xfrm>
            <a:off x="1" y="826521"/>
            <a:ext cx="9143999" cy="37566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0799CDE8-C483-B7AC-6B76-C63E8AA08356}"/>
              </a:ext>
            </a:extLst>
          </p:cNvPr>
          <p:cNvSpPr txBox="1"/>
          <p:nvPr/>
        </p:nvSpPr>
        <p:spPr>
          <a:xfrm>
            <a:off x="386344" y="327858"/>
            <a:ext cx="8301956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fontAlgn="base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</a:pPr>
            <a:r>
              <a:rPr lang="vi-VN" sz="20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CHƯƠNG 4: THIẾT KẾ GIAO DIỆN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17C3FB29-C7A5-AFFC-1EAA-FC55CB5CC506}"/>
              </a:ext>
            </a:extLst>
          </p:cNvPr>
          <p:cNvSpPr txBox="1"/>
          <p:nvPr/>
        </p:nvSpPr>
        <p:spPr>
          <a:xfrm>
            <a:off x="386343" y="826521"/>
            <a:ext cx="8099288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lvl="2" indent="-228600" algn="just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300"/>
              <a:buFont typeface="+mj-lt"/>
              <a:buAutoNum type="arabicPeriod"/>
            </a:pPr>
            <a:r>
              <a:rPr lang="en-US" b="1" dirty="0" err="1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Sơ</a:t>
            </a:r>
            <a:r>
              <a:rPr lang="en-US" b="1" dirty="0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đồ</a:t>
            </a:r>
            <a:r>
              <a:rPr lang="en-US" b="1" dirty="0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liên</a:t>
            </a:r>
            <a:r>
              <a:rPr lang="en-US" b="1" dirty="0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kết</a:t>
            </a:r>
            <a:r>
              <a:rPr lang="en-US" b="1" dirty="0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các</a:t>
            </a:r>
            <a:r>
              <a:rPr lang="en-US" b="1" dirty="0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màn</a:t>
            </a:r>
            <a:r>
              <a:rPr lang="en-US" b="1" dirty="0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D0D0D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+mj-lt"/>
                <a:ea typeface="DengXian Light" panose="02010600030101010101" pitchFamily="2" charset="-122"/>
                <a:cs typeface="Times New Roman" panose="02020603050405020304" pitchFamily="18" charset="0"/>
              </a:rPr>
              <a:t>hình</a:t>
            </a:r>
            <a:endParaRPr lang="en-US" sz="1400" b="1" u="none" strike="noStrike" kern="0" spc="0" dirty="0">
              <a:ln>
                <a:noFill/>
              </a:ln>
              <a:solidFill>
                <a:srgbClr val="0D0D0D"/>
              </a:solidFill>
              <a:effectLst>
                <a:glow>
                  <a:srgbClr val="000000"/>
                </a:glow>
                <a:outerShdw sx="0" sy="0">
                  <a:srgbClr val="000000"/>
                </a:outerShdw>
                <a:reflection stA="0" endPos="0" fadeDir="0" sx="0" sy="0"/>
              </a:effectLst>
              <a:latin typeface="+mj-lt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E7961A42-8F0B-C977-493C-12F9BD5D8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038" y="1301905"/>
            <a:ext cx="661987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6759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80349B7C-ACCF-80D7-61CB-90813889E3CB}"/>
              </a:ext>
            </a:extLst>
          </p:cNvPr>
          <p:cNvSpPr/>
          <p:nvPr/>
        </p:nvSpPr>
        <p:spPr>
          <a:xfrm>
            <a:off x="0" y="-170843"/>
            <a:ext cx="9144000" cy="899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6" name="Google Shape;176;p22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+mj-lt"/>
              </a:rPr>
              <a:t>21</a:t>
            </a:fld>
            <a:endParaRPr>
              <a:latin typeface="+mj-lt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7DB997C5-6983-0A29-D4AA-49E27763D9CA}"/>
              </a:ext>
            </a:extLst>
          </p:cNvPr>
          <p:cNvSpPr txBox="1"/>
          <p:nvPr/>
        </p:nvSpPr>
        <p:spPr>
          <a:xfrm>
            <a:off x="2667359" y="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indent="0">
              <a:buNone/>
            </a:pPr>
            <a:r>
              <a:rPr lang="en-US" sz="2000" b="1" i="0" dirty="0" err="1">
                <a:latin typeface="+mj-lt"/>
              </a:rPr>
              <a:t>Danh</a:t>
            </a:r>
            <a:r>
              <a:rPr lang="en-US" sz="2000" b="1" i="0" dirty="0">
                <a:latin typeface="+mj-lt"/>
              </a:rPr>
              <a:t> </a:t>
            </a:r>
            <a:r>
              <a:rPr lang="en-US" sz="2000" b="1" i="0" dirty="0" err="1">
                <a:latin typeface="+mj-lt"/>
              </a:rPr>
              <a:t>sách</a:t>
            </a:r>
            <a:r>
              <a:rPr lang="en-US" sz="2000" b="1" i="0" dirty="0">
                <a:latin typeface="+mj-lt"/>
              </a:rPr>
              <a:t> </a:t>
            </a:r>
            <a:r>
              <a:rPr lang="en-US" sz="2000" b="1" i="0" dirty="0" err="1">
                <a:latin typeface="+mj-lt"/>
              </a:rPr>
              <a:t>các</a:t>
            </a:r>
            <a:r>
              <a:rPr lang="en-US" sz="2000" b="1" i="0" dirty="0">
                <a:latin typeface="+mj-lt"/>
              </a:rPr>
              <a:t> </a:t>
            </a:r>
            <a:r>
              <a:rPr lang="en-US" sz="2000" b="1" i="0" dirty="0" err="1">
                <a:latin typeface="+mj-lt"/>
              </a:rPr>
              <a:t>màn</a:t>
            </a:r>
            <a:r>
              <a:rPr lang="en-US" sz="2000" b="1" i="0" dirty="0">
                <a:latin typeface="+mj-lt"/>
              </a:rPr>
              <a:t> </a:t>
            </a:r>
            <a:r>
              <a:rPr lang="en-US" sz="2000" b="1" i="0" dirty="0" err="1">
                <a:latin typeface="+mj-lt"/>
              </a:rPr>
              <a:t>hình</a:t>
            </a:r>
            <a:endParaRPr lang="en-US" sz="2000" b="1" i="0" dirty="0">
              <a:latin typeface="+mj-lt"/>
            </a:endParaRPr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25999FCC-EEF0-4C73-A6ED-36C738F8C300}"/>
              </a:ext>
            </a:extLst>
          </p:cNvPr>
          <p:cNvSpPr/>
          <p:nvPr/>
        </p:nvSpPr>
        <p:spPr>
          <a:xfrm>
            <a:off x="0" y="4394598"/>
            <a:ext cx="9144000" cy="7488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+mj-lt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BA60F5E3-EB19-A356-4869-C4A5E925A39D}"/>
              </a:ext>
            </a:extLst>
          </p:cNvPr>
          <p:cNvSpPr txBox="1"/>
          <p:nvPr/>
        </p:nvSpPr>
        <p:spPr>
          <a:xfrm>
            <a:off x="-10886" y="1254071"/>
            <a:ext cx="4582886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indent="0">
              <a:buNone/>
            </a:pPr>
            <a:endParaRPr lang="en-US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i="0" dirty="0" err="1">
                <a:latin typeface="+mj-lt"/>
              </a:rPr>
              <a:t>Màn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đăng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nhập</a:t>
            </a:r>
            <a:endParaRPr lang="en-US" sz="1800" i="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err="1">
                <a:latin typeface="+mj-lt"/>
              </a:rPr>
              <a:t>Màn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hình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chính</a:t>
            </a:r>
            <a:endParaRPr lang="en-US" sz="1800" i="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i="0" dirty="0" err="1">
                <a:latin typeface="+mj-lt"/>
              </a:rPr>
              <a:t>Biểu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đồ</a:t>
            </a:r>
            <a:r>
              <a:rPr lang="en-US" sz="1800" i="0" dirty="0">
                <a:latin typeface="+mj-lt"/>
              </a:rPr>
              <a:t> - </a:t>
            </a:r>
            <a:r>
              <a:rPr lang="en-US" sz="1800" i="0" dirty="0" err="1">
                <a:latin typeface="+mj-lt"/>
              </a:rPr>
              <a:t>trang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chủ</a:t>
            </a:r>
            <a:endParaRPr lang="en-US" sz="1800" i="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i="0" dirty="0" err="1">
                <a:latin typeface="+mj-lt"/>
              </a:rPr>
              <a:t>Màn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hình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dịch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vụ</a:t>
            </a:r>
            <a:endParaRPr lang="en-US" sz="1800" i="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i="0" dirty="0" err="1">
                <a:latin typeface="+mj-lt"/>
              </a:rPr>
              <a:t>Màn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hình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sửa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chữa</a:t>
            </a:r>
            <a:endParaRPr lang="en-US" sz="1800" i="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i="0" dirty="0" err="1">
                <a:latin typeface="+mj-lt"/>
              </a:rPr>
              <a:t>Màn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hình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thanh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toán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sửa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chữa</a:t>
            </a:r>
            <a:endParaRPr lang="en-US" sz="1800" i="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i="0" dirty="0" err="1">
                <a:latin typeface="+mj-lt"/>
              </a:rPr>
              <a:t>Màn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hình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phụ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tùng</a:t>
            </a:r>
            <a:endParaRPr lang="en-US" sz="1800" i="0" dirty="0">
              <a:latin typeface="+mj-lt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ACC4A41D-1F53-9F2F-DB8D-4EFB6CB65FB1}"/>
              </a:ext>
            </a:extLst>
          </p:cNvPr>
          <p:cNvSpPr txBox="1"/>
          <p:nvPr/>
        </p:nvSpPr>
        <p:spPr>
          <a:xfrm>
            <a:off x="4572000" y="1377181"/>
            <a:ext cx="46018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indent="0">
              <a:buNone/>
            </a:pPr>
            <a:endParaRPr lang="en-US" sz="18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i="0" dirty="0" err="1">
                <a:latin typeface="+mj-lt"/>
              </a:rPr>
              <a:t>Màn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nhập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hàng</a:t>
            </a:r>
            <a:endParaRPr lang="en-US" sz="1800" i="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err="1">
                <a:latin typeface="+mj-lt"/>
              </a:rPr>
              <a:t>Màn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thanh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toán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nhập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liệu</a:t>
            </a:r>
            <a:endParaRPr lang="en-US" sz="1800" i="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i="0" dirty="0" err="1">
                <a:latin typeface="+mj-lt"/>
              </a:rPr>
              <a:t>Màn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hình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thống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kê</a:t>
            </a:r>
            <a:endParaRPr lang="en-US" sz="1800" i="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i="0" dirty="0" err="1">
                <a:latin typeface="+mj-lt"/>
              </a:rPr>
              <a:t>Màn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hình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báo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cáo</a:t>
            </a:r>
            <a:endParaRPr lang="en-US" sz="1800" i="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i="0" dirty="0" err="1">
                <a:latin typeface="+mj-lt"/>
              </a:rPr>
              <a:t>Màn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hình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nhân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viên</a:t>
            </a:r>
            <a:endParaRPr lang="en-US" sz="1800" i="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i="0" dirty="0" err="1">
                <a:latin typeface="+mj-lt"/>
              </a:rPr>
              <a:t>Màn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i="0" dirty="0" err="1">
                <a:latin typeface="+mj-lt"/>
              </a:rPr>
              <a:t>hình</a:t>
            </a:r>
            <a:r>
              <a:rPr lang="en-US" sz="1800" i="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cài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đặt</a:t>
            </a:r>
            <a:endParaRPr lang="en-US" sz="1800" i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5221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ABDDC28A-0ECA-22BE-FB56-D19E87B7F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5577" y="325019"/>
            <a:ext cx="5925300" cy="3311100"/>
          </a:xfrm>
        </p:spPr>
        <p:txBody>
          <a:bodyPr/>
          <a:lstStyle/>
          <a:p>
            <a:pPr marL="25400" indent="0">
              <a:buNone/>
            </a:pPr>
            <a:r>
              <a:rPr lang="en-US" sz="2800" b="1" i="0" dirty="0" err="1">
                <a:latin typeface="+mj-lt"/>
              </a:rPr>
              <a:t>Màn</a:t>
            </a:r>
            <a:r>
              <a:rPr lang="en-US" sz="2800" b="1" i="0" dirty="0">
                <a:latin typeface="+mj-lt"/>
              </a:rPr>
              <a:t> </a:t>
            </a:r>
            <a:r>
              <a:rPr lang="en-US" sz="2800" b="1" i="0" dirty="0" err="1">
                <a:latin typeface="+mj-lt"/>
              </a:rPr>
              <a:t>hình</a:t>
            </a:r>
            <a:r>
              <a:rPr lang="en-US" sz="2800" b="1" i="0" dirty="0">
                <a:latin typeface="+mj-lt"/>
              </a:rPr>
              <a:t> </a:t>
            </a:r>
            <a:r>
              <a:rPr lang="en-US" sz="2800" b="1" i="0" dirty="0" err="1">
                <a:latin typeface="+mj-lt"/>
              </a:rPr>
              <a:t>đăng</a:t>
            </a:r>
            <a:r>
              <a:rPr lang="en-US" sz="2800" b="1" i="0" dirty="0">
                <a:latin typeface="+mj-lt"/>
              </a:rPr>
              <a:t> </a:t>
            </a:r>
            <a:r>
              <a:rPr lang="en-US" sz="2800" b="1" i="0" dirty="0" err="1">
                <a:latin typeface="+mj-lt"/>
              </a:rPr>
              <a:t>nhập</a:t>
            </a:r>
            <a:endParaRPr lang="en-US" sz="2800" b="1" i="0" dirty="0">
              <a:latin typeface="+mj-lt"/>
            </a:endParaRPr>
          </a:p>
          <a:p>
            <a:pPr marL="25400" indent="0">
              <a:buNone/>
            </a:pPr>
            <a:endParaRPr lang="vi-VN" sz="2800" b="1" i="0" dirty="0">
              <a:latin typeface="+mj-lt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DB389288-7AE5-8EB4-A603-AB2C74D37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577" y="800100"/>
            <a:ext cx="3524250" cy="4343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ABDDC28A-0ECA-22BE-FB56-D19E87B7F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000" y="215689"/>
            <a:ext cx="5925300" cy="3311100"/>
          </a:xfrm>
        </p:spPr>
        <p:txBody>
          <a:bodyPr/>
          <a:lstStyle/>
          <a:p>
            <a:pPr marL="25400" indent="0">
              <a:buNone/>
            </a:pPr>
            <a:r>
              <a:rPr lang="en-US" sz="2800" b="1" i="0" dirty="0" err="1">
                <a:latin typeface="+mj-lt"/>
              </a:rPr>
              <a:t>Màn</a:t>
            </a:r>
            <a:r>
              <a:rPr lang="en-US" sz="2800" b="1" i="0" dirty="0">
                <a:latin typeface="+mj-lt"/>
              </a:rPr>
              <a:t> </a:t>
            </a:r>
            <a:r>
              <a:rPr lang="en-US" sz="2800" b="1" i="0" dirty="0" err="1">
                <a:latin typeface="+mj-lt"/>
              </a:rPr>
              <a:t>hình</a:t>
            </a:r>
            <a:r>
              <a:rPr lang="en-US" sz="2800" b="1" i="0" dirty="0">
                <a:latin typeface="+mj-lt"/>
              </a:rPr>
              <a:t> </a:t>
            </a:r>
            <a:r>
              <a:rPr lang="en-US" sz="2800" b="1" i="0" dirty="0" err="1">
                <a:latin typeface="+mj-lt"/>
              </a:rPr>
              <a:t>chính</a:t>
            </a:r>
            <a:endParaRPr lang="en-US" sz="2800" b="1" i="0" dirty="0">
              <a:latin typeface="+mj-lt"/>
            </a:endParaRPr>
          </a:p>
          <a:p>
            <a:pPr marL="25400" indent="0">
              <a:buNone/>
            </a:pPr>
            <a:endParaRPr lang="vi-VN" sz="2800" b="1" i="0" dirty="0">
              <a:latin typeface="+mj-lt"/>
            </a:endParaRP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B01F715C-0A44-31AD-CD7C-05645E5A0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29" y="856421"/>
            <a:ext cx="7762461" cy="415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641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ABDDC28A-0ECA-22BE-FB56-D19E87B7F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000" y="215689"/>
            <a:ext cx="5925300" cy="3311100"/>
          </a:xfrm>
        </p:spPr>
        <p:txBody>
          <a:bodyPr/>
          <a:lstStyle/>
          <a:p>
            <a:pPr marL="25400" indent="0">
              <a:buNone/>
            </a:pPr>
            <a:r>
              <a:rPr lang="en-US" sz="2800" b="1" i="0" dirty="0" err="1">
                <a:latin typeface="+mj-lt"/>
              </a:rPr>
              <a:t>Biểu</a:t>
            </a:r>
            <a:r>
              <a:rPr lang="en-US" sz="2800" b="1" i="0" dirty="0">
                <a:latin typeface="+mj-lt"/>
              </a:rPr>
              <a:t> </a:t>
            </a:r>
            <a:r>
              <a:rPr lang="en-US" sz="2800" b="1" i="0" dirty="0" err="1">
                <a:latin typeface="+mj-lt"/>
              </a:rPr>
              <a:t>đồ</a:t>
            </a:r>
            <a:r>
              <a:rPr lang="en-US" sz="2800" b="1" i="0" dirty="0">
                <a:latin typeface="+mj-lt"/>
              </a:rPr>
              <a:t> - </a:t>
            </a:r>
            <a:r>
              <a:rPr lang="en-US" sz="2800" b="1" i="0" dirty="0" err="1">
                <a:latin typeface="+mj-lt"/>
              </a:rPr>
              <a:t>trang</a:t>
            </a:r>
            <a:r>
              <a:rPr lang="en-US" sz="2800" b="1" i="0" dirty="0">
                <a:latin typeface="+mj-lt"/>
              </a:rPr>
              <a:t> </a:t>
            </a:r>
            <a:r>
              <a:rPr lang="en-US" sz="2800" b="1" i="0" dirty="0" err="1">
                <a:latin typeface="+mj-lt"/>
              </a:rPr>
              <a:t>chủ</a:t>
            </a:r>
            <a:endParaRPr lang="en-US" sz="2800" b="1" i="0" dirty="0">
              <a:latin typeface="+mj-lt"/>
            </a:endParaRPr>
          </a:p>
          <a:p>
            <a:pPr marL="25400" indent="0">
              <a:buNone/>
            </a:pPr>
            <a:endParaRPr lang="vi-VN" sz="2800" b="1" i="0" dirty="0">
              <a:latin typeface="+mj-lt"/>
            </a:endParaRP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B01F715C-0A44-31AD-CD7C-05645E5A0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29" y="856421"/>
            <a:ext cx="7762461" cy="415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838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ABDDC28A-0ECA-22BE-FB56-D19E87B7F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000" y="215689"/>
            <a:ext cx="5925300" cy="3311100"/>
          </a:xfrm>
        </p:spPr>
        <p:txBody>
          <a:bodyPr/>
          <a:lstStyle/>
          <a:p>
            <a:pPr marL="25400" indent="0">
              <a:buNone/>
            </a:pPr>
            <a:r>
              <a:rPr lang="en-US" sz="2800" b="1" i="0" dirty="0" err="1">
                <a:latin typeface="+mj-lt"/>
              </a:rPr>
              <a:t>Màn</a:t>
            </a:r>
            <a:r>
              <a:rPr lang="en-US" sz="2800" b="1" i="0" dirty="0">
                <a:latin typeface="+mj-lt"/>
              </a:rPr>
              <a:t> </a:t>
            </a:r>
            <a:r>
              <a:rPr lang="en-US" sz="2800" b="1" i="0" dirty="0" err="1">
                <a:latin typeface="+mj-lt"/>
              </a:rPr>
              <a:t>hình</a:t>
            </a:r>
            <a:r>
              <a:rPr lang="en-US" sz="2800" b="1" i="0" dirty="0">
                <a:latin typeface="+mj-lt"/>
              </a:rPr>
              <a:t> </a:t>
            </a:r>
            <a:r>
              <a:rPr lang="en-US" sz="2800" b="1" i="0" dirty="0" err="1">
                <a:latin typeface="+mj-lt"/>
              </a:rPr>
              <a:t>giao</a:t>
            </a:r>
            <a:r>
              <a:rPr lang="en-US" sz="2800" b="1" i="0" dirty="0">
                <a:latin typeface="+mj-lt"/>
              </a:rPr>
              <a:t> </a:t>
            </a:r>
            <a:r>
              <a:rPr lang="en-US" sz="2800" b="1" i="0" dirty="0" err="1">
                <a:latin typeface="+mj-lt"/>
              </a:rPr>
              <a:t>dịch</a:t>
            </a:r>
            <a:endParaRPr lang="en-US" sz="2800" b="1" i="0" dirty="0">
              <a:latin typeface="+mj-lt"/>
            </a:endParaRPr>
          </a:p>
          <a:p>
            <a:pPr marL="25400" indent="0">
              <a:buNone/>
            </a:pPr>
            <a:endParaRPr lang="vi-VN" sz="2800" b="1" i="0" dirty="0">
              <a:latin typeface="+mj-lt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DB814261-6DF7-718F-608E-D4762EE9D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09" y="762420"/>
            <a:ext cx="7285382" cy="400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66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ABDDC28A-0ECA-22BE-FB56-D19E87B7F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000" y="215689"/>
            <a:ext cx="5925300" cy="3311100"/>
          </a:xfrm>
        </p:spPr>
        <p:txBody>
          <a:bodyPr/>
          <a:lstStyle/>
          <a:p>
            <a:pPr marL="25400" indent="0">
              <a:buNone/>
            </a:pPr>
            <a:r>
              <a:rPr lang="en-US" sz="2800" b="1" i="0" dirty="0" err="1">
                <a:latin typeface="+mj-lt"/>
              </a:rPr>
              <a:t>Màn</a:t>
            </a:r>
            <a:r>
              <a:rPr lang="en-US" sz="2800" b="1" i="0" dirty="0">
                <a:latin typeface="+mj-lt"/>
              </a:rPr>
              <a:t> </a:t>
            </a:r>
            <a:r>
              <a:rPr lang="en-US" sz="2800" b="1" i="0" dirty="0" err="1">
                <a:latin typeface="+mj-lt"/>
              </a:rPr>
              <a:t>hình</a:t>
            </a:r>
            <a:r>
              <a:rPr lang="en-US" sz="2800" b="1" i="0" dirty="0">
                <a:latin typeface="+mj-lt"/>
              </a:rPr>
              <a:t> </a:t>
            </a:r>
            <a:r>
              <a:rPr lang="en-US" sz="2800" b="1" i="0" dirty="0" err="1">
                <a:latin typeface="+mj-lt"/>
              </a:rPr>
              <a:t>sửa</a:t>
            </a:r>
            <a:r>
              <a:rPr lang="en-US" sz="2800" b="1" i="0" dirty="0">
                <a:latin typeface="+mj-lt"/>
              </a:rPr>
              <a:t> </a:t>
            </a:r>
            <a:r>
              <a:rPr lang="en-US" sz="2800" b="1" i="0" dirty="0" err="1">
                <a:latin typeface="+mj-lt"/>
              </a:rPr>
              <a:t>chữa</a:t>
            </a:r>
            <a:endParaRPr lang="en-US" sz="2800" b="1" i="0" dirty="0">
              <a:latin typeface="+mj-lt"/>
            </a:endParaRPr>
          </a:p>
          <a:p>
            <a:pPr marL="25400" indent="0">
              <a:buNone/>
            </a:pPr>
            <a:endParaRPr lang="vi-VN" sz="2800" b="1" i="0" dirty="0">
              <a:latin typeface="+mj-lt"/>
            </a:endParaRP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0F2D8709-75A8-011A-8DAE-4A9EDE399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26" y="700655"/>
            <a:ext cx="7911548" cy="421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2837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ABDDC28A-0ECA-22BE-FB56-D19E87B7F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000" y="215689"/>
            <a:ext cx="5925300" cy="3311100"/>
          </a:xfrm>
        </p:spPr>
        <p:txBody>
          <a:bodyPr/>
          <a:lstStyle/>
          <a:p>
            <a:pPr marL="25400" indent="0">
              <a:buNone/>
            </a:pPr>
            <a:r>
              <a:rPr lang="en-US" sz="2800" b="1" i="0" dirty="0" err="1">
                <a:latin typeface="+mj-lt"/>
              </a:rPr>
              <a:t>Màn</a:t>
            </a:r>
            <a:r>
              <a:rPr lang="en-US" sz="2800" b="1" i="0" dirty="0">
                <a:latin typeface="+mj-lt"/>
              </a:rPr>
              <a:t> </a:t>
            </a:r>
            <a:r>
              <a:rPr lang="en-US" sz="2800" b="1" i="0" dirty="0" err="1">
                <a:latin typeface="+mj-lt"/>
              </a:rPr>
              <a:t>hình</a:t>
            </a:r>
            <a:r>
              <a:rPr lang="en-US" sz="2800" b="1" i="0" dirty="0">
                <a:latin typeface="+mj-lt"/>
              </a:rPr>
              <a:t> </a:t>
            </a:r>
            <a:r>
              <a:rPr lang="en-US" sz="2800" b="1" i="0" dirty="0" err="1">
                <a:latin typeface="+mj-lt"/>
              </a:rPr>
              <a:t>sửa</a:t>
            </a:r>
            <a:r>
              <a:rPr lang="en-US" sz="2800" b="1" i="0" dirty="0">
                <a:latin typeface="+mj-lt"/>
              </a:rPr>
              <a:t> </a:t>
            </a:r>
            <a:r>
              <a:rPr lang="en-US" sz="2800" b="1" i="0" dirty="0" err="1">
                <a:latin typeface="+mj-lt"/>
              </a:rPr>
              <a:t>chữa</a:t>
            </a:r>
            <a:endParaRPr lang="en-US" sz="2800" b="1" i="0" dirty="0">
              <a:latin typeface="+mj-lt"/>
            </a:endParaRPr>
          </a:p>
          <a:p>
            <a:pPr marL="25400" indent="0">
              <a:buNone/>
            </a:pPr>
            <a:endParaRPr lang="vi-VN" sz="2800" b="1" i="0" dirty="0">
              <a:latin typeface="+mj-lt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2BE86BEC-7915-F2B2-5D0C-8896DC94C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00" y="657705"/>
            <a:ext cx="7911548" cy="44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40696"/>
      </p:ext>
    </p:extLst>
  </p:cSld>
  <p:clrMapOvr>
    <a:masterClrMapping/>
  </p:clrMapOvr>
  <p:transition spd="slow">
    <p:randomBar dir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7553A119-15AE-A910-6348-5F82F6DE292C}"/>
              </a:ext>
            </a:extLst>
          </p:cNvPr>
          <p:cNvSpPr/>
          <p:nvPr/>
        </p:nvSpPr>
        <p:spPr>
          <a:xfrm>
            <a:off x="1" y="826521"/>
            <a:ext cx="9143999" cy="37566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0799CDE8-C483-B7AC-6B76-C63E8AA08356}"/>
              </a:ext>
            </a:extLst>
          </p:cNvPr>
          <p:cNvSpPr txBox="1"/>
          <p:nvPr/>
        </p:nvSpPr>
        <p:spPr>
          <a:xfrm>
            <a:off x="386344" y="327858"/>
            <a:ext cx="8301956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fontAlgn="base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</a:pPr>
            <a:r>
              <a:rPr lang="vi-VN" sz="2000" b="1" u="none" strike="noStrike" kern="0" spc="0" dirty="0">
                <a:ln>
                  <a:noFill/>
                </a:ln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CHƯƠNG 5: NHẬN XÉT VÀ KẾT LUẬN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17C3FB29-C7A5-AFFC-1EAA-FC55CB5CC506}"/>
              </a:ext>
            </a:extLst>
          </p:cNvPr>
          <p:cNvSpPr txBox="1"/>
          <p:nvPr/>
        </p:nvSpPr>
        <p:spPr>
          <a:xfrm>
            <a:off x="386343" y="826521"/>
            <a:ext cx="8099288" cy="3078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vi-VN" sz="1600" b="1" dirty="0" err="1"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Nhận</a:t>
            </a:r>
            <a:r>
              <a:rPr lang="vi-VN" sz="1600" b="1" dirty="0"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1600" b="1" dirty="0" err="1"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xét</a:t>
            </a:r>
            <a:r>
              <a:rPr lang="vi-VN" sz="1600" b="1" dirty="0"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1600" b="1" dirty="0" err="1"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và</a:t>
            </a:r>
            <a:r>
              <a:rPr lang="vi-VN" sz="1600" b="1" dirty="0"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1600" b="1" dirty="0" err="1"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kết</a:t>
            </a:r>
            <a:r>
              <a:rPr lang="vi-VN" sz="1600" b="1" dirty="0"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1600" b="1" dirty="0" err="1"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luận</a:t>
            </a:r>
            <a:endParaRPr lang="vi-VN" sz="1600" b="1" dirty="0">
              <a:effectLst/>
              <a:latin typeface="+mn-lt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 indent="365760" algn="just">
              <a:lnSpc>
                <a:spcPct val="150000"/>
              </a:lnSpc>
            </a:pP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Sau 1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tuần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nghiên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cứu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thiết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kế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và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phát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triển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được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sự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hướng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dẫn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của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giảng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viên,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nhóm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Nhập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môn Công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nghệ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Phần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mềm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chúng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tôi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đã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gần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hoàn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thiện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được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một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ứng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dụng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quản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lý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gara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ô tô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đáp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ứng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được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các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tính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năng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nghiệp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vụ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chính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, bao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gồm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: đăng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nhập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tiếp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nhận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bảo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trì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xe,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lập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phiếu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sửa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chữa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, tra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cứu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xe,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lập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phiếu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thu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tiền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lập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báo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cáo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tháng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và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thay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đổi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quy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định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.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Ngoài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ra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nhóm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đã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bổ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sung thêm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một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vài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tính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năng như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quản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lí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nhân viên, phân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quyền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...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Nhóm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đã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tuân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thủ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theo mô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hình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thác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nước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cải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tiến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với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các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sơ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đồ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và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hình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vẽ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như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đã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được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trình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bày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trong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phần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nội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dung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tiểu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sz="1600" dirty="0" err="1">
                <a:effectLst/>
                <a:latin typeface="+mn-lt"/>
                <a:ea typeface="Times New Roman" panose="02020603050405020304" pitchFamily="18" charset="0"/>
              </a:rPr>
              <a:t>luận</a:t>
            </a:r>
            <a:r>
              <a:rPr lang="vi-VN" sz="1600" dirty="0">
                <a:effectLst/>
                <a:latin typeface="+mn-lt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08612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7553A119-15AE-A910-6348-5F82F6DE292C}"/>
              </a:ext>
            </a:extLst>
          </p:cNvPr>
          <p:cNvSpPr/>
          <p:nvPr/>
        </p:nvSpPr>
        <p:spPr>
          <a:xfrm>
            <a:off x="1" y="477078"/>
            <a:ext cx="9143999" cy="410607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688300" y="4687750"/>
            <a:ext cx="455700" cy="4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17C3FB29-C7A5-AFFC-1EAA-FC55CB5CC506}"/>
              </a:ext>
            </a:extLst>
          </p:cNvPr>
          <p:cNvSpPr txBox="1"/>
          <p:nvPr/>
        </p:nvSpPr>
        <p:spPr>
          <a:xfrm>
            <a:off x="395841" y="551983"/>
            <a:ext cx="8099288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vi-VN" b="1" dirty="0" err="1"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Hướng</a:t>
            </a:r>
            <a:r>
              <a:rPr lang="vi-VN" b="1" dirty="0"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b="1" dirty="0" err="1"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phát</a:t>
            </a:r>
            <a:r>
              <a:rPr lang="vi-VN" b="1" dirty="0"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b="1" dirty="0" err="1"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triển</a:t>
            </a:r>
            <a:endParaRPr lang="vi-VN" b="1" dirty="0">
              <a:effectLst/>
              <a:latin typeface="+mn-lt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 indent="365760" algn="just">
              <a:lnSpc>
                <a:spcPct val="150000"/>
              </a:lnSpc>
            </a:pP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Dựa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trên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những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kết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quả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đạt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được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nhóm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chúng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tôi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sẽ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tiếp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tục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hoàn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thiện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các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tính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năng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nghiệp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vụ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chính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, bao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gồm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: đăng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nhập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tiếp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nhận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bảo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trì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xe,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lập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phiếu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sửa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chữa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, tra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cứu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xe,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lập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phiếu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thu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tiền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lập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báo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cáo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tháng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và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thay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đổi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quy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định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. Sau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đó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sẽ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tiếp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tục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vừa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không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ngừng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nâng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cấp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giao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diện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vừa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thêm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các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chức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năng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mới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phù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hợp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với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yêu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cầu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nghiệp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vụ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và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thói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quen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sử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dụng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của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người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dùng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. Giao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diện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mới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sẽ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cho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phép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người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dùng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tùy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chỉnh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chủ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đề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giao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diện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(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sáng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hoặc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tối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)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phù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hợp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với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thẩm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mỹ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của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bản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thân.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Các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biểu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tượng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cách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bố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trí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cũng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sẽ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tường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minh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và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dễ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nhìn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hơn.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Nhóm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cũng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sẽ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nghiên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cứu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mở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rộng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thêm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tính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năng chăm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sóc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khách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hàng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. Thêm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vào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đó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nhóm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sẽ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nghiên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cứu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mở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rộng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để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ứng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dụng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có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thể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kết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nối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với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nhau thông qua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Internet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sử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dụng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chung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một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hệ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thống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lưu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trữ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dữ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liệu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từ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đó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người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dùng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có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thể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trao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đổi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dữ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liêu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với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nhau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dễ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dàng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hướng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tới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phục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vụ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các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chuỗi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cửa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hàng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.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Mục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tiêu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cuối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cùng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của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nhóm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là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thiết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kế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thành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công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một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hệ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thống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ứng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dụng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thân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thiện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hỗ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trợ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người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dùng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thực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hiện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nghiệp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vụ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nhanh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chóng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và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hiệu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vi-VN" dirty="0" err="1">
                <a:effectLst/>
                <a:latin typeface="+mn-lt"/>
                <a:ea typeface="Times New Roman" panose="02020603050405020304" pitchFamily="18" charset="0"/>
              </a:rPr>
              <a:t>quả</a:t>
            </a:r>
            <a:r>
              <a:rPr lang="vi-VN" dirty="0">
                <a:effectLst/>
                <a:latin typeface="+mn-lt"/>
                <a:ea typeface="Times New Roman" panose="02020603050405020304" pitchFamily="18" charset="0"/>
              </a:rPr>
              <a:t>.</a:t>
            </a:r>
          </a:p>
          <a:p>
            <a:br>
              <a:rPr lang="vi-VN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vi-VN" sz="1600" dirty="0">
              <a:effectLst/>
              <a:latin typeface="+mn-lt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196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Paulina template">
  <a:themeElements>
    <a:clrScheme name="Custom 347">
      <a:dk1>
        <a:srgbClr val="756F6F"/>
      </a:dk1>
      <a:lt1>
        <a:srgbClr val="FFFFFF"/>
      </a:lt1>
      <a:dk2>
        <a:srgbClr val="A8A09D"/>
      </a:dk2>
      <a:lt2>
        <a:srgbClr val="F5F1F0"/>
      </a:lt2>
      <a:accent1>
        <a:srgbClr val="AD9B91"/>
      </a:accent1>
      <a:accent2>
        <a:srgbClr val="E2D1C2"/>
      </a:accent2>
      <a:accent3>
        <a:srgbClr val="C4CBBF"/>
      </a:accent3>
      <a:accent4>
        <a:srgbClr val="BFC8CB"/>
      </a:accent4>
      <a:accent5>
        <a:srgbClr val="E9DBDB"/>
      </a:accent5>
      <a:accent6>
        <a:srgbClr val="C5C4BF"/>
      </a:accent6>
      <a:hlink>
        <a:srgbClr val="413A3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2099</Words>
  <Application>Microsoft Office PowerPoint</Application>
  <PresentationFormat>On-screen Show (16:9)</PresentationFormat>
  <Paragraphs>241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Inria Serif</vt:lpstr>
      <vt:lpstr>Courier New</vt:lpstr>
      <vt:lpstr>Inria Serif Light</vt:lpstr>
      <vt:lpstr>DejaVu Sans</vt:lpstr>
      <vt:lpstr>Times New Roman</vt:lpstr>
      <vt:lpstr>Playfair Display Regular</vt:lpstr>
      <vt:lpstr>Arial</vt:lpstr>
      <vt:lpstr>Wingdings</vt:lpstr>
      <vt:lpstr>Paulina template</vt:lpstr>
      <vt:lpstr>QUẢN LÝ GARA Ô TÔ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Yêu cầu 1: Tiếp nhận bảo trì xe </vt:lpstr>
      <vt:lpstr>Yêu cầu 2: Lập phiếu sửa chữa </vt:lpstr>
      <vt:lpstr>Yêu cầu 3: Tra cứu xe </vt:lpstr>
      <vt:lpstr>Yêu cầu 4: Lập phiếu thu tiền </vt:lpstr>
      <vt:lpstr>Yêu cầu 5: Lập báo cáo tháng </vt:lpstr>
      <vt:lpstr>Sơ đồ logic hoan chỉnh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QUẢN LÝ GARA Ô TÔ </dc:title>
  <cp:lastModifiedBy>Mai Tu  Quy</cp:lastModifiedBy>
  <cp:revision>7</cp:revision>
  <dcterms:modified xsi:type="dcterms:W3CDTF">2022-06-21T12:17:43Z</dcterms:modified>
</cp:coreProperties>
</file>